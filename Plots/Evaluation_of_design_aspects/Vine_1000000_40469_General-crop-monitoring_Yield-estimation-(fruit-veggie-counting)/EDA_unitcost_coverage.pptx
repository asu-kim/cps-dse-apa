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8288000" cy="8229600"/>
  <p:notesSz cx="182880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96" y="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2551176"/>
            <a:ext cx="1554480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4608576"/>
            <a:ext cx="1280160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1892808"/>
            <a:ext cx="7955280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1892808"/>
            <a:ext cx="7955280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646863" y="3668142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62867" y="4869544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62867" y="103363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509401" y="103953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981444" y="4527981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362867" y="189072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773877" y="3543543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843982" y="190228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598646" y="4565478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461185" y="3150917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235473" y="406569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108458" y="439155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2410704" y="1428552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3933228" y="5408817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3098011" y="1440163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5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3795766" y="3995333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2362867" y="597139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3362487" y="392097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4187257" y="4935151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4049795" y="3521843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200804" y="0"/>
                </a:moveTo>
                <a:lnTo>
                  <a:pt x="0" y="401609"/>
                </a:lnTo>
                <a:lnTo>
                  <a:pt x="401609" y="401609"/>
                </a:lnTo>
                <a:lnTo>
                  <a:pt x="200804" y="0"/>
                </a:lnTo>
                <a:close/>
              </a:path>
            </a:pathLst>
          </a:custGeom>
          <a:ln w="19050">
            <a:solidFill>
              <a:srgbClr val="1F77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2286000" y="3498599"/>
            <a:ext cx="561975" cy="568325"/>
          </a:xfrm>
          <a:custGeom>
            <a:avLst/>
            <a:gdLst/>
            <a:ahLst/>
            <a:cxnLst/>
            <a:rect l="l" t="t" r="r" b="b"/>
            <a:pathLst>
              <a:path w="561975" h="568325">
                <a:moveTo>
                  <a:pt x="0" y="290288"/>
                </a:moveTo>
                <a:lnTo>
                  <a:pt x="277672" y="567961"/>
                </a:lnTo>
                <a:lnTo>
                  <a:pt x="561652" y="283980"/>
                </a:lnTo>
                <a:lnTo>
                  <a:pt x="277672" y="0"/>
                </a:lnTo>
                <a:lnTo>
                  <a:pt x="0" y="277672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2286000" y="3421070"/>
            <a:ext cx="561975" cy="568325"/>
          </a:xfrm>
          <a:custGeom>
            <a:avLst/>
            <a:gdLst/>
            <a:ahLst/>
            <a:cxnLst/>
            <a:rect l="l" t="t" r="r" b="b"/>
            <a:pathLst>
              <a:path w="561975" h="568325">
                <a:moveTo>
                  <a:pt x="0" y="290288"/>
                </a:moveTo>
                <a:lnTo>
                  <a:pt x="277672" y="567961"/>
                </a:lnTo>
                <a:lnTo>
                  <a:pt x="561652" y="283980"/>
                </a:lnTo>
                <a:lnTo>
                  <a:pt x="277672" y="0"/>
                </a:lnTo>
                <a:lnTo>
                  <a:pt x="0" y="277672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2286000" y="3022955"/>
            <a:ext cx="561975" cy="568325"/>
          </a:xfrm>
          <a:custGeom>
            <a:avLst/>
            <a:gdLst/>
            <a:ahLst/>
            <a:cxnLst/>
            <a:rect l="l" t="t" r="r" b="b"/>
            <a:pathLst>
              <a:path w="561975" h="568325">
                <a:moveTo>
                  <a:pt x="0" y="290288"/>
                </a:moveTo>
                <a:lnTo>
                  <a:pt x="277672" y="567961"/>
                </a:lnTo>
                <a:lnTo>
                  <a:pt x="561652" y="283980"/>
                </a:lnTo>
                <a:lnTo>
                  <a:pt x="277672" y="0"/>
                </a:lnTo>
                <a:lnTo>
                  <a:pt x="0" y="277672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2286000" y="2945426"/>
            <a:ext cx="561975" cy="568325"/>
          </a:xfrm>
          <a:custGeom>
            <a:avLst/>
            <a:gdLst/>
            <a:ahLst/>
            <a:cxnLst/>
            <a:rect l="l" t="t" r="r" b="b"/>
            <a:pathLst>
              <a:path w="561975" h="568325">
                <a:moveTo>
                  <a:pt x="0" y="290288"/>
                </a:moveTo>
                <a:lnTo>
                  <a:pt x="277672" y="567961"/>
                </a:lnTo>
                <a:lnTo>
                  <a:pt x="561652" y="283980"/>
                </a:lnTo>
                <a:lnTo>
                  <a:pt x="277672" y="0"/>
                </a:lnTo>
                <a:lnTo>
                  <a:pt x="0" y="277672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2286000" y="1968612"/>
            <a:ext cx="561975" cy="568325"/>
          </a:xfrm>
          <a:custGeom>
            <a:avLst/>
            <a:gdLst/>
            <a:ahLst/>
            <a:cxnLst/>
            <a:rect l="l" t="t" r="r" b="b"/>
            <a:pathLst>
              <a:path w="561975" h="568325">
                <a:moveTo>
                  <a:pt x="0" y="290288"/>
                </a:moveTo>
                <a:lnTo>
                  <a:pt x="277672" y="567961"/>
                </a:lnTo>
                <a:lnTo>
                  <a:pt x="561652" y="283980"/>
                </a:lnTo>
                <a:lnTo>
                  <a:pt x="277672" y="0"/>
                </a:lnTo>
                <a:lnTo>
                  <a:pt x="0" y="277672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2286000" y="1891083"/>
            <a:ext cx="561975" cy="568325"/>
          </a:xfrm>
          <a:custGeom>
            <a:avLst/>
            <a:gdLst/>
            <a:ahLst/>
            <a:cxnLst/>
            <a:rect l="l" t="t" r="r" b="b"/>
            <a:pathLst>
              <a:path w="561975" h="568325">
                <a:moveTo>
                  <a:pt x="0" y="290288"/>
                </a:moveTo>
                <a:lnTo>
                  <a:pt x="277672" y="567961"/>
                </a:lnTo>
                <a:lnTo>
                  <a:pt x="561652" y="283980"/>
                </a:lnTo>
                <a:lnTo>
                  <a:pt x="277672" y="0"/>
                </a:lnTo>
                <a:lnTo>
                  <a:pt x="0" y="277672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2286000" y="1878249"/>
            <a:ext cx="561975" cy="568325"/>
          </a:xfrm>
          <a:custGeom>
            <a:avLst/>
            <a:gdLst/>
            <a:ahLst/>
            <a:cxnLst/>
            <a:rect l="l" t="t" r="r" b="b"/>
            <a:pathLst>
              <a:path w="561975" h="568325">
                <a:moveTo>
                  <a:pt x="0" y="290288"/>
                </a:moveTo>
                <a:lnTo>
                  <a:pt x="277672" y="567961"/>
                </a:lnTo>
                <a:lnTo>
                  <a:pt x="561652" y="283980"/>
                </a:lnTo>
                <a:lnTo>
                  <a:pt x="277672" y="0"/>
                </a:lnTo>
                <a:lnTo>
                  <a:pt x="0" y="277672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5029197" y="1848542"/>
            <a:ext cx="281305" cy="561975"/>
          </a:xfrm>
          <a:custGeom>
            <a:avLst/>
            <a:gdLst/>
            <a:ahLst/>
            <a:cxnLst/>
            <a:rect l="l" t="t" r="r" b="b"/>
            <a:pathLst>
              <a:path w="281304" h="561975">
                <a:moveTo>
                  <a:pt x="280956" y="0"/>
                </a:moveTo>
                <a:lnTo>
                  <a:pt x="0" y="280956"/>
                </a:lnTo>
                <a:lnTo>
                  <a:pt x="280956" y="561912"/>
                </a:lnTo>
              </a:path>
            </a:pathLst>
          </a:custGeom>
          <a:ln w="19049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4567601" y="1831776"/>
            <a:ext cx="568325" cy="568325"/>
          </a:xfrm>
          <a:custGeom>
            <a:avLst/>
            <a:gdLst/>
            <a:ahLst/>
            <a:cxnLst/>
            <a:rect l="l" t="t" r="r" b="b"/>
            <a:pathLst>
              <a:path w="568325" h="568325">
                <a:moveTo>
                  <a:pt x="283980" y="567961"/>
                </a:moveTo>
                <a:lnTo>
                  <a:pt x="567961" y="283980"/>
                </a:lnTo>
                <a:lnTo>
                  <a:pt x="283980" y="0"/>
                </a:lnTo>
                <a:lnTo>
                  <a:pt x="0" y="283980"/>
                </a:lnTo>
                <a:lnTo>
                  <a:pt x="283980" y="567961"/>
                </a:lnTo>
                <a:close/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2286000" y="1778927"/>
            <a:ext cx="561975" cy="568325"/>
          </a:xfrm>
          <a:custGeom>
            <a:avLst/>
            <a:gdLst/>
            <a:ahLst/>
            <a:cxnLst/>
            <a:rect l="l" t="t" r="r" b="b"/>
            <a:pathLst>
              <a:path w="561975" h="568325">
                <a:moveTo>
                  <a:pt x="0" y="290288"/>
                </a:moveTo>
                <a:lnTo>
                  <a:pt x="277672" y="567961"/>
                </a:lnTo>
                <a:lnTo>
                  <a:pt x="561652" y="283980"/>
                </a:lnTo>
                <a:lnTo>
                  <a:pt x="277672" y="0"/>
                </a:lnTo>
                <a:lnTo>
                  <a:pt x="0" y="277672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4616812" y="1441934"/>
            <a:ext cx="568325" cy="568325"/>
          </a:xfrm>
          <a:custGeom>
            <a:avLst/>
            <a:gdLst/>
            <a:ahLst/>
            <a:cxnLst/>
            <a:rect l="l" t="t" r="r" b="b"/>
            <a:pathLst>
              <a:path w="568325" h="568325">
                <a:moveTo>
                  <a:pt x="283980" y="567961"/>
                </a:moveTo>
                <a:lnTo>
                  <a:pt x="567961" y="283980"/>
                </a:lnTo>
                <a:lnTo>
                  <a:pt x="283980" y="0"/>
                </a:lnTo>
                <a:lnTo>
                  <a:pt x="0" y="283980"/>
                </a:lnTo>
                <a:lnTo>
                  <a:pt x="283980" y="567961"/>
                </a:lnTo>
                <a:close/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4155216" y="1428192"/>
            <a:ext cx="568325" cy="568325"/>
          </a:xfrm>
          <a:custGeom>
            <a:avLst/>
            <a:gdLst/>
            <a:ahLst/>
            <a:cxnLst/>
            <a:rect l="l" t="t" r="r" b="b"/>
            <a:pathLst>
              <a:path w="568325" h="568325">
                <a:moveTo>
                  <a:pt x="283980" y="567961"/>
                </a:moveTo>
                <a:lnTo>
                  <a:pt x="567961" y="283980"/>
                </a:lnTo>
                <a:lnTo>
                  <a:pt x="283980" y="0"/>
                </a:lnTo>
                <a:lnTo>
                  <a:pt x="0" y="283980"/>
                </a:lnTo>
                <a:lnTo>
                  <a:pt x="283980" y="567961"/>
                </a:lnTo>
                <a:close/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2286000" y="1375343"/>
            <a:ext cx="561975" cy="568325"/>
          </a:xfrm>
          <a:custGeom>
            <a:avLst/>
            <a:gdLst/>
            <a:ahLst/>
            <a:cxnLst/>
            <a:rect l="l" t="t" r="r" b="b"/>
            <a:pathLst>
              <a:path w="561975" h="568325">
                <a:moveTo>
                  <a:pt x="0" y="290288"/>
                </a:moveTo>
                <a:lnTo>
                  <a:pt x="277672" y="567961"/>
                </a:lnTo>
                <a:lnTo>
                  <a:pt x="561652" y="283980"/>
                </a:lnTo>
                <a:lnTo>
                  <a:pt x="277672" y="0"/>
                </a:lnTo>
                <a:lnTo>
                  <a:pt x="0" y="277672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5283225" y="1618271"/>
            <a:ext cx="27305" cy="53975"/>
          </a:xfrm>
          <a:custGeom>
            <a:avLst/>
            <a:gdLst/>
            <a:ahLst/>
            <a:cxnLst/>
            <a:rect l="l" t="t" r="r" b="b"/>
            <a:pathLst>
              <a:path w="27304" h="53975">
                <a:moveTo>
                  <a:pt x="26927" y="0"/>
                </a:moveTo>
                <a:lnTo>
                  <a:pt x="0" y="26927"/>
                </a:lnTo>
                <a:lnTo>
                  <a:pt x="26927" y="53855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4821630" y="1347475"/>
            <a:ext cx="488950" cy="568325"/>
          </a:xfrm>
          <a:custGeom>
            <a:avLst/>
            <a:gdLst/>
            <a:ahLst/>
            <a:cxnLst/>
            <a:rect l="l" t="t" r="r" b="b"/>
            <a:pathLst>
              <a:path w="488950" h="568325">
                <a:moveTo>
                  <a:pt x="488523" y="204542"/>
                </a:moveTo>
                <a:lnTo>
                  <a:pt x="283980" y="0"/>
                </a:lnTo>
                <a:lnTo>
                  <a:pt x="0" y="283980"/>
                </a:lnTo>
                <a:lnTo>
                  <a:pt x="283980" y="567961"/>
                </a:lnTo>
                <a:lnTo>
                  <a:pt x="488523" y="363418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3850052" y="1324895"/>
            <a:ext cx="568325" cy="568325"/>
          </a:xfrm>
          <a:custGeom>
            <a:avLst/>
            <a:gdLst/>
            <a:ahLst/>
            <a:cxnLst/>
            <a:rect l="l" t="t" r="r" b="b"/>
            <a:pathLst>
              <a:path w="568325" h="568325">
                <a:moveTo>
                  <a:pt x="283980" y="567961"/>
                </a:moveTo>
                <a:lnTo>
                  <a:pt x="567961" y="283980"/>
                </a:lnTo>
                <a:lnTo>
                  <a:pt x="283980" y="0"/>
                </a:lnTo>
                <a:lnTo>
                  <a:pt x="0" y="283980"/>
                </a:lnTo>
                <a:lnTo>
                  <a:pt x="283980" y="567961"/>
                </a:lnTo>
                <a:close/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2286000" y="1294626"/>
            <a:ext cx="561975" cy="568325"/>
          </a:xfrm>
          <a:custGeom>
            <a:avLst/>
            <a:gdLst/>
            <a:ahLst/>
            <a:cxnLst/>
            <a:rect l="l" t="t" r="r" b="b"/>
            <a:pathLst>
              <a:path w="561975" h="568325">
                <a:moveTo>
                  <a:pt x="0" y="290288"/>
                </a:moveTo>
                <a:lnTo>
                  <a:pt x="277672" y="567961"/>
                </a:lnTo>
                <a:lnTo>
                  <a:pt x="561652" y="283980"/>
                </a:lnTo>
                <a:lnTo>
                  <a:pt x="277672" y="0"/>
                </a:lnTo>
                <a:lnTo>
                  <a:pt x="0" y="277672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4891735" y="1038350"/>
            <a:ext cx="418465" cy="568325"/>
          </a:xfrm>
          <a:custGeom>
            <a:avLst/>
            <a:gdLst/>
            <a:ahLst/>
            <a:cxnLst/>
            <a:rect l="l" t="t" r="r" b="b"/>
            <a:pathLst>
              <a:path w="418464" h="568325">
                <a:moveTo>
                  <a:pt x="418418" y="134437"/>
                </a:moveTo>
                <a:lnTo>
                  <a:pt x="283980" y="0"/>
                </a:lnTo>
                <a:lnTo>
                  <a:pt x="0" y="283980"/>
                </a:lnTo>
                <a:lnTo>
                  <a:pt x="283980" y="567961"/>
                </a:lnTo>
                <a:lnTo>
                  <a:pt x="418418" y="433523"/>
                </a:lnTo>
              </a:path>
            </a:pathLst>
          </a:custGeom>
          <a:ln w="19050">
            <a:solidFill>
              <a:srgbClr val="FF7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2362867" y="4999789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200804"/>
                </a:moveTo>
                <a:lnTo>
                  <a:pt x="401609" y="200804"/>
                </a:lnTo>
              </a:path>
              <a:path w="401955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2362867" y="459620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200804"/>
                </a:moveTo>
                <a:lnTo>
                  <a:pt x="401609" y="200804"/>
                </a:lnTo>
              </a:path>
              <a:path w="401955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2362867" y="5403374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200804"/>
                </a:moveTo>
                <a:lnTo>
                  <a:pt x="401609" y="200804"/>
                </a:lnTo>
              </a:path>
              <a:path w="401955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2362867" y="548039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200804"/>
                </a:moveTo>
                <a:lnTo>
                  <a:pt x="401609" y="200804"/>
                </a:lnTo>
              </a:path>
              <a:path w="401955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2362867" y="5076811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200804"/>
                </a:moveTo>
                <a:lnTo>
                  <a:pt x="401609" y="200804"/>
                </a:lnTo>
              </a:path>
              <a:path w="401955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2362867" y="5883979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200804"/>
                </a:moveTo>
                <a:lnTo>
                  <a:pt x="401609" y="200804"/>
                </a:lnTo>
              </a:path>
              <a:path w="401955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2362867" y="4648241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200804"/>
                </a:moveTo>
                <a:lnTo>
                  <a:pt x="401609" y="200804"/>
                </a:lnTo>
              </a:path>
              <a:path w="401955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2362867" y="4244657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200804"/>
                </a:moveTo>
                <a:lnTo>
                  <a:pt x="401609" y="200804"/>
                </a:lnTo>
              </a:path>
              <a:path w="401955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4049795" y="3521843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200804"/>
                </a:moveTo>
                <a:lnTo>
                  <a:pt x="401609" y="200804"/>
                </a:lnTo>
              </a:path>
              <a:path w="401954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3362487" y="392097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200804"/>
                </a:moveTo>
                <a:lnTo>
                  <a:pt x="401609" y="200804"/>
                </a:lnTo>
              </a:path>
              <a:path w="401954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3795766" y="3995333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200804"/>
                </a:moveTo>
                <a:lnTo>
                  <a:pt x="401609" y="200804"/>
                </a:lnTo>
              </a:path>
              <a:path w="401954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3108458" y="439155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200804"/>
                </a:moveTo>
                <a:lnTo>
                  <a:pt x="401609" y="200804"/>
                </a:lnTo>
              </a:path>
              <a:path w="401954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3098011" y="1440163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5">
                <a:moveTo>
                  <a:pt x="0" y="200804"/>
                </a:moveTo>
                <a:lnTo>
                  <a:pt x="401609" y="200804"/>
                </a:lnTo>
              </a:path>
              <a:path w="401954" h="401955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3461185" y="3150917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200804"/>
                </a:moveTo>
                <a:lnTo>
                  <a:pt x="401609" y="200804"/>
                </a:lnTo>
              </a:path>
              <a:path w="401954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2410704" y="1428552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0" y="200804"/>
                </a:moveTo>
                <a:lnTo>
                  <a:pt x="401609" y="200804"/>
                </a:lnTo>
              </a:path>
              <a:path w="401955" h="401955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2773877" y="3543543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200804"/>
                </a:moveTo>
                <a:lnTo>
                  <a:pt x="401609" y="200804"/>
                </a:lnTo>
              </a:path>
              <a:path w="401955" h="401954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2843982" y="190228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0" y="200804"/>
                </a:moveTo>
                <a:lnTo>
                  <a:pt x="401609" y="200804"/>
                </a:lnTo>
              </a:path>
              <a:path w="401955" h="401955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2362867" y="189072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0" y="200804"/>
                </a:moveTo>
                <a:lnTo>
                  <a:pt x="401609" y="200804"/>
                </a:lnTo>
              </a:path>
              <a:path w="401955" h="401955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2509401" y="103953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0" y="200804"/>
                </a:moveTo>
                <a:lnTo>
                  <a:pt x="401609" y="200804"/>
                </a:lnTo>
              </a:path>
              <a:path w="401955" h="401955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2362867" y="103363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0" y="200804"/>
                </a:moveTo>
                <a:lnTo>
                  <a:pt x="401609" y="200804"/>
                </a:lnTo>
              </a:path>
              <a:path w="401955" h="401955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3313276" y="3668142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2362867" y="4869544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2362867" y="103363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2509401" y="103953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2981444" y="4527981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2362867" y="189072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2773877" y="3543543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2843982" y="190228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3598646" y="4565478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3461185" y="3150917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3235473" y="406569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3108458" y="439155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2410704" y="1428552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5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3933228" y="5408817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3098011" y="1440163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5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3795766" y="3995333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2362867" y="597139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3362487" y="3920975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4187257" y="4935151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4049795" y="3521843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2560923" y="6419088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2560923" y="6419088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3935538" y="6419088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3935538" y="6419088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5310153" y="6419088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5310153" y="6419088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33785" y="-60864"/>
            <a:ext cx="2155825" cy="845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1892808"/>
            <a:ext cx="16459200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7653528"/>
            <a:ext cx="5852160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7653528"/>
            <a:ext cx="4206240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7653528"/>
            <a:ext cx="4206240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55160" y="6402871"/>
            <a:ext cx="747869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100</a:t>
            </a:r>
            <a:endParaRPr sz="2800" dirty="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67459" y="6210628"/>
            <a:ext cx="2540635" cy="637354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  <a:tabLst>
                <a:tab pos="1306195" algn="l"/>
              </a:tabLst>
            </a:pPr>
            <a:r>
              <a:rPr sz="2800" spc="-50" dirty="0">
                <a:latin typeface="Lucida Sans"/>
                <a:cs typeface="Lucida Sans"/>
              </a:rPr>
              <a:t>0</a:t>
            </a:r>
            <a:r>
              <a:rPr sz="2800" dirty="0">
                <a:latin typeface="Lucida Sans"/>
                <a:cs typeface="Lucida Sans"/>
              </a:rPr>
              <a:t>	</a:t>
            </a:r>
            <a:r>
              <a:rPr sz="2800" spc="-25" dirty="0">
                <a:latin typeface="Lucida Sans"/>
                <a:cs typeface="Lucida Sans"/>
              </a:rPr>
              <a:t>50</a:t>
            </a:r>
            <a:endParaRPr sz="2800" dirty="0">
              <a:latin typeface="Lucida Sans"/>
              <a:cs typeface="Lucida San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41550" y="982472"/>
            <a:ext cx="3074035" cy="5441950"/>
            <a:chOff x="2241550" y="982472"/>
            <a:chExt cx="3074035" cy="5441950"/>
          </a:xfrm>
        </p:grpSpPr>
        <p:sp>
          <p:nvSpPr>
            <p:cNvPr id="5" name="object 5"/>
            <p:cNvSpPr/>
            <p:nvPr/>
          </p:nvSpPr>
          <p:spPr>
            <a:xfrm>
              <a:off x="2241550" y="571251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41550" y="571251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41550" y="470355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1550" y="470355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1550" y="369459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1550" y="369459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41550" y="268563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41550" y="268563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41550" y="167667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41550" y="167667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86000" y="987552"/>
              <a:ext cx="3024505" cy="5431790"/>
            </a:xfrm>
            <a:custGeom>
              <a:avLst/>
              <a:gdLst/>
              <a:ahLst/>
              <a:cxnLst/>
              <a:rect l="l" t="t" r="r" b="b"/>
              <a:pathLst>
                <a:path w="3024504" h="5431790">
                  <a:moveTo>
                    <a:pt x="0" y="5431536"/>
                  </a:moveTo>
                  <a:lnTo>
                    <a:pt x="0" y="0"/>
                  </a:lnTo>
                </a:path>
                <a:path w="3024504" h="5431790">
                  <a:moveTo>
                    <a:pt x="3024153" y="5431536"/>
                  </a:moveTo>
                  <a:lnTo>
                    <a:pt x="3024153" y="0"/>
                  </a:lnTo>
                </a:path>
                <a:path w="3024504" h="5431790">
                  <a:moveTo>
                    <a:pt x="0" y="5431536"/>
                  </a:moveTo>
                  <a:lnTo>
                    <a:pt x="3024153" y="5431536"/>
                  </a:lnTo>
                </a:path>
                <a:path w="3024504" h="5431790">
                  <a:moveTo>
                    <a:pt x="0" y="0"/>
                  </a:moveTo>
                  <a:lnTo>
                    <a:pt x="3024153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47800" y="4501902"/>
            <a:ext cx="76811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latin typeface="Lucida Sans"/>
                <a:cs typeface="Lucida Sans"/>
              </a:rPr>
              <a:t>3.5K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47800" y="3492942"/>
            <a:ext cx="76811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latin typeface="Lucida Sans"/>
                <a:cs typeface="Lucida Sans"/>
              </a:rPr>
              <a:t>4.0K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47800" y="2483982"/>
            <a:ext cx="76811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latin typeface="Lucida Sans"/>
                <a:cs typeface="Lucida Sans"/>
              </a:rPr>
              <a:t>4.5K</a:t>
            </a:r>
            <a:endParaRPr sz="2800" dirty="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47800" y="1475022"/>
            <a:ext cx="76811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latin typeface="Lucida Sans"/>
                <a:cs typeface="Lucida Sans"/>
              </a:rPr>
              <a:t>5.0K</a:t>
            </a:r>
            <a:endParaRPr sz="2800" dirty="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09198" y="1066800"/>
            <a:ext cx="301044" cy="439726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60"/>
              </a:lnSpc>
            </a:pPr>
            <a:r>
              <a:rPr sz="2800" spc="-100" dirty="0">
                <a:latin typeface="Lucida Sans"/>
                <a:cs typeface="Lucida Sans"/>
              </a:rPr>
              <a:t>Unit</a:t>
            </a:r>
            <a:r>
              <a:rPr sz="2800" spc="-55" dirty="0">
                <a:latin typeface="Lucida Sans"/>
                <a:cs typeface="Lucida Sans"/>
              </a:rPr>
              <a:t> </a:t>
            </a:r>
            <a:r>
              <a:rPr sz="2800" spc="-130" dirty="0">
                <a:latin typeface="Lucida Sans"/>
                <a:cs typeface="Lucida Sans"/>
              </a:rPr>
              <a:t>Cost</a:t>
            </a:r>
            <a:r>
              <a:rPr sz="2800" spc="-55" dirty="0">
                <a:latin typeface="Lucida Sans"/>
                <a:cs typeface="Lucida Sans"/>
              </a:rPr>
              <a:t> </a:t>
            </a:r>
            <a:r>
              <a:rPr sz="2800" spc="-114" dirty="0">
                <a:latin typeface="Lucida Sans"/>
                <a:cs typeface="Lucida Sans"/>
              </a:rPr>
              <a:t>in</a:t>
            </a:r>
            <a:r>
              <a:rPr sz="2800" spc="-55" dirty="0">
                <a:latin typeface="Lucida Sans"/>
                <a:cs typeface="Lucida Sans"/>
              </a:rPr>
              <a:t> </a:t>
            </a:r>
            <a:r>
              <a:rPr lang="en-US" sz="2800" spc="-114" dirty="0">
                <a:latin typeface="Lucida Sans"/>
                <a:cs typeface="Lucida Sans"/>
              </a:rPr>
              <a:t>T</a:t>
            </a:r>
            <a:r>
              <a:rPr sz="2800" spc="-114" dirty="0">
                <a:latin typeface="Lucida Sans"/>
                <a:cs typeface="Lucida Sans"/>
              </a:rPr>
              <a:t>housands</a:t>
            </a:r>
            <a:r>
              <a:rPr sz="2800" spc="-55" dirty="0">
                <a:latin typeface="Lucida Sans"/>
                <a:cs typeface="Lucida Sans"/>
              </a:rPr>
              <a:t> </a:t>
            </a:r>
            <a:r>
              <a:rPr sz="2800" spc="-25" dirty="0">
                <a:latin typeface="Lucida Sans"/>
                <a:cs typeface="Lucida Sans"/>
              </a:rPr>
              <a:t>($)</a:t>
            </a:r>
            <a:endParaRPr sz="2800" dirty="0">
              <a:latin typeface="Lucida Sans"/>
              <a:cs typeface="Lucida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94868" y="7518468"/>
            <a:ext cx="477833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b="1" spc="-265" dirty="0">
                <a:latin typeface="Verdana"/>
                <a:cs typeface="Verdana"/>
              </a:rPr>
              <a:t>(a)</a:t>
            </a:r>
            <a:endParaRPr sz="2250" dirty="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717536" y="1024110"/>
            <a:ext cx="3043555" cy="5445125"/>
            <a:chOff x="6641336" y="1024110"/>
            <a:chExt cx="3043555" cy="5445125"/>
          </a:xfrm>
        </p:grpSpPr>
        <p:sp>
          <p:nvSpPr>
            <p:cNvPr id="24" name="object 24"/>
            <p:cNvSpPr/>
            <p:nvPr/>
          </p:nvSpPr>
          <p:spPr>
            <a:xfrm>
              <a:off x="6692089" y="5414669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50861" y="5319957"/>
              <a:ext cx="339725" cy="401955"/>
            </a:xfrm>
            <a:custGeom>
              <a:avLst/>
              <a:gdLst/>
              <a:ahLst/>
              <a:cxnLst/>
              <a:rect l="l" t="t" r="r" b="b"/>
              <a:pathLst>
                <a:path w="339725" h="401954">
                  <a:moveTo>
                    <a:pt x="0" y="401609"/>
                  </a:moveTo>
                  <a:lnTo>
                    <a:pt x="339619" y="401609"/>
                  </a:lnTo>
                  <a:lnTo>
                    <a:pt x="138815" y="0"/>
                  </a:lnTo>
                  <a:lnTo>
                    <a:pt x="0" y="277630"/>
                  </a:lnTo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50861" y="5300303"/>
              <a:ext cx="339725" cy="401955"/>
            </a:xfrm>
            <a:custGeom>
              <a:avLst/>
              <a:gdLst/>
              <a:ahLst/>
              <a:cxnLst/>
              <a:rect l="l" t="t" r="r" b="b"/>
              <a:pathLst>
                <a:path w="339725" h="401954">
                  <a:moveTo>
                    <a:pt x="0" y="401609"/>
                  </a:moveTo>
                  <a:lnTo>
                    <a:pt x="339143" y="401609"/>
                  </a:lnTo>
                  <a:lnTo>
                    <a:pt x="138339" y="0"/>
                  </a:lnTo>
                  <a:lnTo>
                    <a:pt x="0" y="276678"/>
                  </a:lnTo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50861" y="5262624"/>
              <a:ext cx="390525" cy="401955"/>
            </a:xfrm>
            <a:custGeom>
              <a:avLst/>
              <a:gdLst/>
              <a:ahLst/>
              <a:cxnLst/>
              <a:rect l="l" t="t" r="r" b="b"/>
              <a:pathLst>
                <a:path w="390525" h="401954">
                  <a:moveTo>
                    <a:pt x="0" y="401609"/>
                  </a:moveTo>
                  <a:lnTo>
                    <a:pt x="389972" y="401609"/>
                  </a:lnTo>
                  <a:lnTo>
                    <a:pt x="189167" y="0"/>
                  </a:lnTo>
                  <a:lnTo>
                    <a:pt x="0" y="378335"/>
                  </a:lnTo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21789" y="523509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50861" y="5128686"/>
              <a:ext cx="339725" cy="401955"/>
            </a:xfrm>
            <a:custGeom>
              <a:avLst/>
              <a:gdLst/>
              <a:ahLst/>
              <a:cxnLst/>
              <a:rect l="l" t="t" r="r" b="b"/>
              <a:pathLst>
                <a:path w="339725" h="401954">
                  <a:moveTo>
                    <a:pt x="0" y="401609"/>
                  </a:moveTo>
                  <a:lnTo>
                    <a:pt x="339469" y="401609"/>
                  </a:lnTo>
                  <a:lnTo>
                    <a:pt x="138664" y="0"/>
                  </a:lnTo>
                  <a:lnTo>
                    <a:pt x="0" y="277329"/>
                  </a:lnTo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25203" y="5072059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39005" y="4989936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79756" y="4985962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50603" y="4829551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281979" y="4806092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222154" y="4779524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50862" y="4757828"/>
              <a:ext cx="369570" cy="401955"/>
            </a:xfrm>
            <a:custGeom>
              <a:avLst/>
              <a:gdLst/>
              <a:ahLst/>
              <a:cxnLst/>
              <a:rect l="l" t="t" r="r" b="b"/>
              <a:pathLst>
                <a:path w="369570" h="401954">
                  <a:moveTo>
                    <a:pt x="0" y="401609"/>
                  </a:moveTo>
                  <a:lnTo>
                    <a:pt x="369148" y="401609"/>
                  </a:lnTo>
                  <a:lnTo>
                    <a:pt x="168343" y="0"/>
                  </a:lnTo>
                  <a:lnTo>
                    <a:pt x="0" y="336687"/>
                  </a:lnTo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237237" y="4705680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46004" y="4466317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053803" y="4452838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650861" y="4407960"/>
              <a:ext cx="342265" cy="401955"/>
            </a:xfrm>
            <a:custGeom>
              <a:avLst/>
              <a:gdLst/>
              <a:ahLst/>
              <a:cxnLst/>
              <a:rect l="l" t="t" r="r" b="b"/>
              <a:pathLst>
                <a:path w="342265" h="401954">
                  <a:moveTo>
                    <a:pt x="0" y="401609"/>
                  </a:moveTo>
                  <a:lnTo>
                    <a:pt x="342152" y="401609"/>
                  </a:lnTo>
                  <a:lnTo>
                    <a:pt x="141347" y="0"/>
                  </a:lnTo>
                  <a:lnTo>
                    <a:pt x="0" y="282695"/>
                  </a:lnTo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830651" y="4106055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336749" y="4007783"/>
              <a:ext cx="338455" cy="401955"/>
            </a:xfrm>
            <a:custGeom>
              <a:avLst/>
              <a:gdLst/>
              <a:ahLst/>
              <a:cxnLst/>
              <a:rect l="l" t="t" r="r" b="b"/>
              <a:pathLst>
                <a:path w="338454" h="401954">
                  <a:moveTo>
                    <a:pt x="338266" y="274923"/>
                  </a:moveTo>
                  <a:lnTo>
                    <a:pt x="200804" y="0"/>
                  </a:lnTo>
                  <a:lnTo>
                    <a:pt x="0" y="401609"/>
                  </a:lnTo>
                  <a:lnTo>
                    <a:pt x="338266" y="401609"/>
                  </a:lnTo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052870" y="365886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650861" y="5888219"/>
              <a:ext cx="421640" cy="531495"/>
            </a:xfrm>
            <a:custGeom>
              <a:avLst/>
              <a:gdLst/>
              <a:ahLst/>
              <a:cxnLst/>
              <a:rect l="l" t="t" r="r" b="b"/>
              <a:pathLst>
                <a:path w="421640" h="531495">
                  <a:moveTo>
                    <a:pt x="174554" y="530868"/>
                  </a:moveTo>
                  <a:lnTo>
                    <a:pt x="421442" y="283980"/>
                  </a:lnTo>
                  <a:lnTo>
                    <a:pt x="137461" y="0"/>
                  </a:lnTo>
                  <a:lnTo>
                    <a:pt x="0" y="137461"/>
                  </a:lnTo>
                </a:path>
                <a:path w="421640" h="531495">
                  <a:moveTo>
                    <a:pt x="0" y="430499"/>
                  </a:moveTo>
                  <a:lnTo>
                    <a:pt x="100368" y="530868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650861" y="5888079"/>
              <a:ext cx="421640" cy="531495"/>
            </a:xfrm>
            <a:custGeom>
              <a:avLst/>
              <a:gdLst/>
              <a:ahLst/>
              <a:cxnLst/>
              <a:rect l="l" t="t" r="r" b="b"/>
              <a:pathLst>
                <a:path w="421640" h="531495">
                  <a:moveTo>
                    <a:pt x="174413" y="531008"/>
                  </a:moveTo>
                  <a:lnTo>
                    <a:pt x="421442" y="283980"/>
                  </a:lnTo>
                  <a:lnTo>
                    <a:pt x="137461" y="0"/>
                  </a:lnTo>
                  <a:lnTo>
                    <a:pt x="0" y="137461"/>
                  </a:lnTo>
                </a:path>
                <a:path w="421640" h="531495">
                  <a:moveTo>
                    <a:pt x="0" y="430499"/>
                  </a:moveTo>
                  <a:lnTo>
                    <a:pt x="100509" y="531008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650861" y="5887359"/>
              <a:ext cx="421640" cy="532130"/>
            </a:xfrm>
            <a:custGeom>
              <a:avLst/>
              <a:gdLst/>
              <a:ahLst/>
              <a:cxnLst/>
              <a:rect l="l" t="t" r="r" b="b"/>
              <a:pathLst>
                <a:path w="421640" h="532129">
                  <a:moveTo>
                    <a:pt x="173694" y="531728"/>
                  </a:moveTo>
                  <a:lnTo>
                    <a:pt x="421442" y="283980"/>
                  </a:lnTo>
                  <a:lnTo>
                    <a:pt x="137461" y="0"/>
                  </a:lnTo>
                  <a:lnTo>
                    <a:pt x="0" y="137461"/>
                  </a:lnTo>
                </a:path>
                <a:path w="421640" h="532129">
                  <a:moveTo>
                    <a:pt x="0" y="430499"/>
                  </a:moveTo>
                  <a:lnTo>
                    <a:pt x="101228" y="531728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50861" y="5887219"/>
              <a:ext cx="421640" cy="532130"/>
            </a:xfrm>
            <a:custGeom>
              <a:avLst/>
              <a:gdLst/>
              <a:ahLst/>
              <a:cxnLst/>
              <a:rect l="l" t="t" r="r" b="b"/>
              <a:pathLst>
                <a:path w="421640" h="532129">
                  <a:moveTo>
                    <a:pt x="173553" y="531868"/>
                  </a:moveTo>
                  <a:lnTo>
                    <a:pt x="421442" y="283980"/>
                  </a:lnTo>
                  <a:lnTo>
                    <a:pt x="137461" y="0"/>
                  </a:lnTo>
                  <a:lnTo>
                    <a:pt x="0" y="137461"/>
                  </a:lnTo>
                </a:path>
                <a:path w="421640" h="532129">
                  <a:moveTo>
                    <a:pt x="0" y="430499"/>
                  </a:moveTo>
                  <a:lnTo>
                    <a:pt x="101369" y="531868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650861" y="5885453"/>
              <a:ext cx="421640" cy="534035"/>
            </a:xfrm>
            <a:custGeom>
              <a:avLst/>
              <a:gdLst/>
              <a:ahLst/>
              <a:cxnLst/>
              <a:rect l="l" t="t" r="r" b="b"/>
              <a:pathLst>
                <a:path w="421640" h="534035">
                  <a:moveTo>
                    <a:pt x="171787" y="533634"/>
                  </a:moveTo>
                  <a:lnTo>
                    <a:pt x="421442" y="283980"/>
                  </a:lnTo>
                  <a:lnTo>
                    <a:pt x="137461" y="0"/>
                  </a:lnTo>
                  <a:lnTo>
                    <a:pt x="0" y="137461"/>
                  </a:lnTo>
                </a:path>
                <a:path w="421640" h="534035">
                  <a:moveTo>
                    <a:pt x="0" y="430499"/>
                  </a:moveTo>
                  <a:lnTo>
                    <a:pt x="103135" y="533634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650861" y="5885312"/>
              <a:ext cx="421640" cy="534035"/>
            </a:xfrm>
            <a:custGeom>
              <a:avLst/>
              <a:gdLst/>
              <a:ahLst/>
              <a:cxnLst/>
              <a:rect l="l" t="t" r="r" b="b"/>
              <a:pathLst>
                <a:path w="421640" h="534035">
                  <a:moveTo>
                    <a:pt x="171647" y="533775"/>
                  </a:moveTo>
                  <a:lnTo>
                    <a:pt x="421442" y="283980"/>
                  </a:lnTo>
                  <a:lnTo>
                    <a:pt x="137461" y="0"/>
                  </a:lnTo>
                  <a:lnTo>
                    <a:pt x="0" y="137461"/>
                  </a:lnTo>
                </a:path>
                <a:path w="421640" h="534035">
                  <a:moveTo>
                    <a:pt x="0" y="430499"/>
                  </a:moveTo>
                  <a:lnTo>
                    <a:pt x="103275" y="533775"/>
                  </a:lnTo>
                </a:path>
                <a:path w="421640" h="534035">
                  <a:moveTo>
                    <a:pt x="171624" y="533798"/>
                  </a:moveTo>
                  <a:lnTo>
                    <a:pt x="421442" y="283980"/>
                  </a:lnTo>
                  <a:lnTo>
                    <a:pt x="137461" y="0"/>
                  </a:lnTo>
                  <a:lnTo>
                    <a:pt x="0" y="137461"/>
                  </a:lnTo>
                </a:path>
                <a:path w="421640" h="534035">
                  <a:moveTo>
                    <a:pt x="0" y="430499"/>
                  </a:moveTo>
                  <a:lnTo>
                    <a:pt x="103298" y="533798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650862" y="5885230"/>
              <a:ext cx="447040" cy="534035"/>
            </a:xfrm>
            <a:custGeom>
              <a:avLst/>
              <a:gdLst/>
              <a:ahLst/>
              <a:cxnLst/>
              <a:rect l="l" t="t" r="r" b="b"/>
              <a:pathLst>
                <a:path w="447040" h="534035">
                  <a:moveTo>
                    <a:pt x="196638" y="533857"/>
                  </a:moveTo>
                  <a:lnTo>
                    <a:pt x="446515" y="283980"/>
                  </a:lnTo>
                  <a:lnTo>
                    <a:pt x="162534" y="0"/>
                  </a:lnTo>
                  <a:lnTo>
                    <a:pt x="0" y="162534"/>
                  </a:lnTo>
                </a:path>
                <a:path w="447040" h="534035">
                  <a:moveTo>
                    <a:pt x="0" y="405426"/>
                  </a:moveTo>
                  <a:lnTo>
                    <a:pt x="128431" y="533857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650861" y="5885205"/>
              <a:ext cx="442595" cy="534035"/>
            </a:xfrm>
            <a:custGeom>
              <a:avLst/>
              <a:gdLst/>
              <a:ahLst/>
              <a:cxnLst/>
              <a:rect l="l" t="t" r="r" b="b"/>
              <a:pathLst>
                <a:path w="442595" h="534035">
                  <a:moveTo>
                    <a:pt x="192404" y="533882"/>
                  </a:moveTo>
                  <a:lnTo>
                    <a:pt x="442306" y="283980"/>
                  </a:lnTo>
                  <a:lnTo>
                    <a:pt x="158325" y="0"/>
                  </a:lnTo>
                  <a:lnTo>
                    <a:pt x="0" y="158325"/>
                  </a:lnTo>
                </a:path>
                <a:path w="442595" h="534035">
                  <a:moveTo>
                    <a:pt x="0" y="409635"/>
                  </a:moveTo>
                  <a:lnTo>
                    <a:pt x="124246" y="533882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650861" y="5885110"/>
              <a:ext cx="421640" cy="534035"/>
            </a:xfrm>
            <a:custGeom>
              <a:avLst/>
              <a:gdLst/>
              <a:ahLst/>
              <a:cxnLst/>
              <a:rect l="l" t="t" r="r" b="b"/>
              <a:pathLst>
                <a:path w="421640" h="534035">
                  <a:moveTo>
                    <a:pt x="171444" y="533977"/>
                  </a:moveTo>
                  <a:lnTo>
                    <a:pt x="421442" y="283980"/>
                  </a:lnTo>
                  <a:lnTo>
                    <a:pt x="137461" y="0"/>
                  </a:lnTo>
                  <a:lnTo>
                    <a:pt x="0" y="137461"/>
                  </a:lnTo>
                </a:path>
                <a:path w="421640" h="534035">
                  <a:moveTo>
                    <a:pt x="0" y="430499"/>
                  </a:moveTo>
                  <a:lnTo>
                    <a:pt x="103478" y="533977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650861" y="5884500"/>
              <a:ext cx="443230" cy="534670"/>
            </a:xfrm>
            <a:custGeom>
              <a:avLst/>
              <a:gdLst/>
              <a:ahLst/>
              <a:cxnLst/>
              <a:rect l="l" t="t" r="r" b="b"/>
              <a:pathLst>
                <a:path w="443229" h="534670">
                  <a:moveTo>
                    <a:pt x="192148" y="534587"/>
                  </a:moveTo>
                  <a:lnTo>
                    <a:pt x="442754" y="283980"/>
                  </a:lnTo>
                  <a:lnTo>
                    <a:pt x="158774" y="0"/>
                  </a:lnTo>
                  <a:lnTo>
                    <a:pt x="0" y="158774"/>
                  </a:lnTo>
                </a:path>
                <a:path w="443229" h="534670">
                  <a:moveTo>
                    <a:pt x="0" y="409186"/>
                  </a:moveTo>
                  <a:lnTo>
                    <a:pt x="125400" y="534587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650862" y="5884475"/>
              <a:ext cx="438784" cy="534670"/>
            </a:xfrm>
            <a:custGeom>
              <a:avLst/>
              <a:gdLst/>
              <a:ahLst/>
              <a:cxnLst/>
              <a:rect l="l" t="t" r="r" b="b"/>
              <a:pathLst>
                <a:path w="438784" h="534670">
                  <a:moveTo>
                    <a:pt x="187914" y="534612"/>
                  </a:moveTo>
                  <a:lnTo>
                    <a:pt x="438545" y="283980"/>
                  </a:lnTo>
                  <a:lnTo>
                    <a:pt x="154564" y="0"/>
                  </a:lnTo>
                  <a:lnTo>
                    <a:pt x="0" y="154564"/>
                  </a:lnTo>
                </a:path>
                <a:path w="438784" h="534670">
                  <a:moveTo>
                    <a:pt x="0" y="413396"/>
                  </a:moveTo>
                  <a:lnTo>
                    <a:pt x="121215" y="534612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650862" y="5884409"/>
              <a:ext cx="514350" cy="535305"/>
            </a:xfrm>
            <a:custGeom>
              <a:avLst/>
              <a:gdLst/>
              <a:ahLst/>
              <a:cxnLst/>
              <a:rect l="l" t="t" r="r" b="b"/>
              <a:pathLst>
                <a:path w="514350" h="535304">
                  <a:moveTo>
                    <a:pt x="263356" y="534678"/>
                  </a:moveTo>
                  <a:lnTo>
                    <a:pt x="514054" y="283980"/>
                  </a:lnTo>
                  <a:lnTo>
                    <a:pt x="230073" y="0"/>
                  </a:lnTo>
                  <a:lnTo>
                    <a:pt x="0" y="230073"/>
                  </a:lnTo>
                </a:path>
                <a:path w="514350" h="535304">
                  <a:moveTo>
                    <a:pt x="0" y="337887"/>
                  </a:moveTo>
                  <a:lnTo>
                    <a:pt x="196790" y="534678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650862" y="5884384"/>
              <a:ext cx="501650" cy="535305"/>
            </a:xfrm>
            <a:custGeom>
              <a:avLst/>
              <a:gdLst/>
              <a:ahLst/>
              <a:cxnLst/>
              <a:rect l="l" t="t" r="r" b="b"/>
              <a:pathLst>
                <a:path w="501650" h="535304">
                  <a:moveTo>
                    <a:pt x="250557" y="534703"/>
                  </a:moveTo>
                  <a:lnTo>
                    <a:pt x="501280" y="283980"/>
                  </a:lnTo>
                  <a:lnTo>
                    <a:pt x="217299" y="0"/>
                  </a:lnTo>
                  <a:lnTo>
                    <a:pt x="0" y="217299"/>
                  </a:lnTo>
                </a:path>
                <a:path w="501650" h="535304">
                  <a:moveTo>
                    <a:pt x="0" y="350661"/>
                  </a:moveTo>
                  <a:lnTo>
                    <a:pt x="184042" y="534703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650861" y="5884380"/>
              <a:ext cx="421640" cy="535305"/>
            </a:xfrm>
            <a:custGeom>
              <a:avLst/>
              <a:gdLst/>
              <a:ahLst/>
              <a:cxnLst/>
              <a:rect l="l" t="t" r="r" b="b"/>
              <a:pathLst>
                <a:path w="421640" h="535304">
                  <a:moveTo>
                    <a:pt x="170715" y="534707"/>
                  </a:moveTo>
                  <a:lnTo>
                    <a:pt x="421442" y="283980"/>
                  </a:lnTo>
                  <a:lnTo>
                    <a:pt x="137461" y="0"/>
                  </a:lnTo>
                  <a:lnTo>
                    <a:pt x="0" y="137461"/>
                  </a:lnTo>
                </a:path>
                <a:path w="421640" h="535304">
                  <a:moveTo>
                    <a:pt x="0" y="430499"/>
                  </a:moveTo>
                  <a:lnTo>
                    <a:pt x="104207" y="534707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650861" y="5884354"/>
              <a:ext cx="448945" cy="535305"/>
            </a:xfrm>
            <a:custGeom>
              <a:avLst/>
              <a:gdLst/>
              <a:ahLst/>
              <a:cxnLst/>
              <a:rect l="l" t="t" r="r" b="b"/>
              <a:pathLst>
                <a:path w="448945" h="535304">
                  <a:moveTo>
                    <a:pt x="198079" y="534733"/>
                  </a:moveTo>
                  <a:lnTo>
                    <a:pt x="448832" y="283980"/>
                  </a:lnTo>
                  <a:lnTo>
                    <a:pt x="164851" y="0"/>
                  </a:lnTo>
                  <a:lnTo>
                    <a:pt x="0" y="164851"/>
                  </a:lnTo>
                </a:path>
                <a:path w="448945" h="535304">
                  <a:moveTo>
                    <a:pt x="0" y="403109"/>
                  </a:moveTo>
                  <a:lnTo>
                    <a:pt x="131623" y="534733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650862" y="5884330"/>
              <a:ext cx="445134" cy="535305"/>
            </a:xfrm>
            <a:custGeom>
              <a:avLst/>
              <a:gdLst/>
              <a:ahLst/>
              <a:cxnLst/>
              <a:rect l="l" t="t" r="r" b="b"/>
              <a:pathLst>
                <a:path w="445134" h="535304">
                  <a:moveTo>
                    <a:pt x="193845" y="534758"/>
                  </a:moveTo>
                  <a:lnTo>
                    <a:pt x="444622" y="283980"/>
                  </a:lnTo>
                  <a:lnTo>
                    <a:pt x="160642" y="0"/>
                  </a:lnTo>
                  <a:lnTo>
                    <a:pt x="0" y="160642"/>
                  </a:lnTo>
                </a:path>
                <a:path w="445134" h="535304">
                  <a:moveTo>
                    <a:pt x="0" y="407319"/>
                  </a:moveTo>
                  <a:lnTo>
                    <a:pt x="127438" y="534758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650861" y="5884289"/>
              <a:ext cx="436245" cy="535305"/>
            </a:xfrm>
            <a:custGeom>
              <a:avLst/>
              <a:gdLst/>
              <a:ahLst/>
              <a:cxnLst/>
              <a:rect l="l" t="t" r="r" b="b"/>
              <a:pathLst>
                <a:path w="436245" h="535304">
                  <a:moveTo>
                    <a:pt x="184944" y="534798"/>
                  </a:moveTo>
                  <a:lnTo>
                    <a:pt x="435762" y="283980"/>
                  </a:lnTo>
                  <a:lnTo>
                    <a:pt x="151782" y="0"/>
                  </a:lnTo>
                  <a:lnTo>
                    <a:pt x="0" y="151782"/>
                  </a:lnTo>
                </a:path>
                <a:path w="436245" h="535304">
                  <a:moveTo>
                    <a:pt x="0" y="416179"/>
                  </a:moveTo>
                  <a:lnTo>
                    <a:pt x="118619" y="534798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650861" y="5884234"/>
              <a:ext cx="421640" cy="535305"/>
            </a:xfrm>
            <a:custGeom>
              <a:avLst/>
              <a:gdLst/>
              <a:ahLst/>
              <a:cxnLst/>
              <a:rect l="l" t="t" r="r" b="b"/>
              <a:pathLst>
                <a:path w="421640" h="535304">
                  <a:moveTo>
                    <a:pt x="170569" y="534853"/>
                  </a:moveTo>
                  <a:lnTo>
                    <a:pt x="421442" y="283980"/>
                  </a:lnTo>
                  <a:lnTo>
                    <a:pt x="137461" y="0"/>
                  </a:lnTo>
                  <a:lnTo>
                    <a:pt x="0" y="137461"/>
                  </a:lnTo>
                </a:path>
                <a:path w="421640" h="535304">
                  <a:moveTo>
                    <a:pt x="0" y="430499"/>
                  </a:moveTo>
                  <a:lnTo>
                    <a:pt x="104353" y="534853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650861" y="5883770"/>
              <a:ext cx="445770" cy="535940"/>
            </a:xfrm>
            <a:custGeom>
              <a:avLst/>
              <a:gdLst/>
              <a:ahLst/>
              <a:cxnLst/>
              <a:rect l="l" t="t" r="r" b="b"/>
              <a:pathLst>
                <a:path w="445770" h="535939">
                  <a:moveTo>
                    <a:pt x="193925" y="535316"/>
                  </a:moveTo>
                  <a:lnTo>
                    <a:pt x="445262" y="283980"/>
                  </a:lnTo>
                  <a:lnTo>
                    <a:pt x="161281" y="0"/>
                  </a:lnTo>
                  <a:lnTo>
                    <a:pt x="0" y="161281"/>
                  </a:lnTo>
                </a:path>
                <a:path w="445770" h="535939">
                  <a:moveTo>
                    <a:pt x="0" y="406679"/>
                  </a:moveTo>
                  <a:lnTo>
                    <a:pt x="128637" y="535316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50861" y="1320412"/>
              <a:ext cx="348615" cy="401955"/>
            </a:xfrm>
            <a:custGeom>
              <a:avLst/>
              <a:gdLst/>
              <a:ahLst/>
              <a:cxnLst/>
              <a:rect l="l" t="t" r="r" b="b"/>
              <a:pathLst>
                <a:path w="348615" h="401955">
                  <a:moveTo>
                    <a:pt x="0" y="200804"/>
                  </a:moveTo>
                  <a:lnTo>
                    <a:pt x="348093" y="200804"/>
                  </a:lnTo>
                </a:path>
                <a:path w="348615" h="401955">
                  <a:moveTo>
                    <a:pt x="147289" y="401609"/>
                  </a:moveTo>
                  <a:lnTo>
                    <a:pt x="147289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650861" y="1033635"/>
              <a:ext cx="348615" cy="401955"/>
            </a:xfrm>
            <a:custGeom>
              <a:avLst/>
              <a:gdLst/>
              <a:ahLst/>
              <a:cxnLst/>
              <a:rect l="l" t="t" r="r" b="b"/>
              <a:pathLst>
                <a:path w="348615" h="401955">
                  <a:moveTo>
                    <a:pt x="0" y="200804"/>
                  </a:moveTo>
                  <a:lnTo>
                    <a:pt x="348093" y="200804"/>
                  </a:lnTo>
                </a:path>
                <a:path w="348615" h="401955">
                  <a:moveTo>
                    <a:pt x="147289" y="401609"/>
                  </a:moveTo>
                  <a:lnTo>
                    <a:pt x="147289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650861" y="1607189"/>
              <a:ext cx="348615" cy="401955"/>
            </a:xfrm>
            <a:custGeom>
              <a:avLst/>
              <a:gdLst/>
              <a:ahLst/>
              <a:cxnLst/>
              <a:rect l="l" t="t" r="r" b="b"/>
              <a:pathLst>
                <a:path w="348615" h="401955">
                  <a:moveTo>
                    <a:pt x="0" y="200804"/>
                  </a:moveTo>
                  <a:lnTo>
                    <a:pt x="348093" y="200804"/>
                  </a:lnTo>
                </a:path>
                <a:path w="348615" h="401955">
                  <a:moveTo>
                    <a:pt x="147289" y="401609"/>
                  </a:moveTo>
                  <a:lnTo>
                    <a:pt x="147289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650862" y="2806160"/>
              <a:ext cx="346075" cy="401955"/>
            </a:xfrm>
            <a:custGeom>
              <a:avLst/>
              <a:gdLst/>
              <a:ahLst/>
              <a:cxnLst/>
              <a:rect l="l" t="t" r="r" b="b"/>
              <a:pathLst>
                <a:path w="346075" h="401955">
                  <a:moveTo>
                    <a:pt x="0" y="200804"/>
                  </a:moveTo>
                  <a:lnTo>
                    <a:pt x="345486" y="200804"/>
                  </a:lnTo>
                </a:path>
                <a:path w="346075" h="401955">
                  <a:moveTo>
                    <a:pt x="144681" y="401609"/>
                  </a:moveTo>
                  <a:lnTo>
                    <a:pt x="144681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650862" y="2595273"/>
              <a:ext cx="346075" cy="401955"/>
            </a:xfrm>
            <a:custGeom>
              <a:avLst/>
              <a:gdLst/>
              <a:ahLst/>
              <a:cxnLst/>
              <a:rect l="l" t="t" r="r" b="b"/>
              <a:pathLst>
                <a:path w="346075" h="401955">
                  <a:moveTo>
                    <a:pt x="0" y="200804"/>
                  </a:moveTo>
                  <a:lnTo>
                    <a:pt x="345486" y="200804"/>
                  </a:lnTo>
                </a:path>
                <a:path w="346075" h="401955">
                  <a:moveTo>
                    <a:pt x="144681" y="401609"/>
                  </a:moveTo>
                  <a:lnTo>
                    <a:pt x="144681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650862" y="3017047"/>
              <a:ext cx="346075" cy="401955"/>
            </a:xfrm>
            <a:custGeom>
              <a:avLst/>
              <a:gdLst/>
              <a:ahLst/>
              <a:cxnLst/>
              <a:rect l="l" t="t" r="r" b="b"/>
              <a:pathLst>
                <a:path w="346075" h="401954">
                  <a:moveTo>
                    <a:pt x="0" y="200804"/>
                  </a:moveTo>
                  <a:lnTo>
                    <a:pt x="345486" y="200804"/>
                  </a:lnTo>
                </a:path>
                <a:path w="346075" h="401954">
                  <a:moveTo>
                    <a:pt x="144681" y="401609"/>
                  </a:moveTo>
                  <a:lnTo>
                    <a:pt x="144681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650861" y="3296842"/>
              <a:ext cx="344170" cy="401955"/>
            </a:xfrm>
            <a:custGeom>
              <a:avLst/>
              <a:gdLst/>
              <a:ahLst/>
              <a:cxnLst/>
              <a:rect l="l" t="t" r="r" b="b"/>
              <a:pathLst>
                <a:path w="344170" h="401954">
                  <a:moveTo>
                    <a:pt x="0" y="200804"/>
                  </a:moveTo>
                  <a:lnTo>
                    <a:pt x="343631" y="200804"/>
                  </a:lnTo>
                </a:path>
                <a:path w="344170" h="401954">
                  <a:moveTo>
                    <a:pt x="142826" y="401609"/>
                  </a:moveTo>
                  <a:lnTo>
                    <a:pt x="142826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650861" y="3139954"/>
              <a:ext cx="344170" cy="401955"/>
            </a:xfrm>
            <a:custGeom>
              <a:avLst/>
              <a:gdLst/>
              <a:ahLst/>
              <a:cxnLst/>
              <a:rect l="l" t="t" r="r" b="b"/>
              <a:pathLst>
                <a:path w="344170" h="401954">
                  <a:moveTo>
                    <a:pt x="0" y="200804"/>
                  </a:moveTo>
                  <a:lnTo>
                    <a:pt x="343631" y="200804"/>
                  </a:lnTo>
                </a:path>
                <a:path w="344170" h="401954">
                  <a:moveTo>
                    <a:pt x="142826" y="401609"/>
                  </a:moveTo>
                  <a:lnTo>
                    <a:pt x="142826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052870" y="365886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4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830651" y="4106055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4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053803" y="4452838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4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222154" y="4779524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4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49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146004" y="4466317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4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350603" y="4829551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4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650862" y="4757828"/>
              <a:ext cx="369570" cy="401955"/>
            </a:xfrm>
            <a:custGeom>
              <a:avLst/>
              <a:gdLst/>
              <a:ahLst/>
              <a:cxnLst/>
              <a:rect l="l" t="t" r="r" b="b"/>
              <a:pathLst>
                <a:path w="369570" h="401954">
                  <a:moveTo>
                    <a:pt x="0" y="200804"/>
                  </a:moveTo>
                  <a:lnTo>
                    <a:pt x="369148" y="200804"/>
                  </a:lnTo>
                </a:path>
                <a:path w="369570" h="401954">
                  <a:moveTo>
                    <a:pt x="168343" y="401609"/>
                  </a:moveTo>
                  <a:lnTo>
                    <a:pt x="168343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825203" y="5072059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4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839005" y="4989936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4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650861" y="5128686"/>
              <a:ext cx="339725" cy="401955"/>
            </a:xfrm>
            <a:custGeom>
              <a:avLst/>
              <a:gdLst/>
              <a:ahLst/>
              <a:cxnLst/>
              <a:rect l="l" t="t" r="r" b="b"/>
              <a:pathLst>
                <a:path w="339725" h="401954">
                  <a:moveTo>
                    <a:pt x="0" y="200804"/>
                  </a:moveTo>
                  <a:lnTo>
                    <a:pt x="339469" y="200804"/>
                  </a:lnTo>
                </a:path>
                <a:path w="339725" h="401954">
                  <a:moveTo>
                    <a:pt x="138664" y="401609"/>
                  </a:moveTo>
                  <a:lnTo>
                    <a:pt x="13866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650861" y="5262624"/>
              <a:ext cx="390525" cy="401955"/>
            </a:xfrm>
            <a:custGeom>
              <a:avLst/>
              <a:gdLst/>
              <a:ahLst/>
              <a:cxnLst/>
              <a:rect l="l" t="t" r="r" b="b"/>
              <a:pathLst>
                <a:path w="390525" h="401954">
                  <a:moveTo>
                    <a:pt x="0" y="200804"/>
                  </a:moveTo>
                  <a:lnTo>
                    <a:pt x="389972" y="200804"/>
                  </a:lnTo>
                </a:path>
                <a:path w="390525" h="401954">
                  <a:moveTo>
                    <a:pt x="189167" y="401609"/>
                  </a:moveTo>
                  <a:lnTo>
                    <a:pt x="189167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650861" y="5300303"/>
              <a:ext cx="339725" cy="401955"/>
            </a:xfrm>
            <a:custGeom>
              <a:avLst/>
              <a:gdLst/>
              <a:ahLst/>
              <a:cxnLst/>
              <a:rect l="l" t="t" r="r" b="b"/>
              <a:pathLst>
                <a:path w="339725" h="401954">
                  <a:moveTo>
                    <a:pt x="0" y="200804"/>
                  </a:moveTo>
                  <a:lnTo>
                    <a:pt x="339143" y="200804"/>
                  </a:lnTo>
                </a:path>
                <a:path w="339725" h="401954">
                  <a:moveTo>
                    <a:pt x="138339" y="401609"/>
                  </a:moveTo>
                  <a:lnTo>
                    <a:pt x="138339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935177" y="5414669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650861" y="5319957"/>
              <a:ext cx="339725" cy="401955"/>
            </a:xfrm>
            <a:custGeom>
              <a:avLst/>
              <a:gdLst/>
              <a:ahLst/>
              <a:cxnLst/>
              <a:rect l="l" t="t" r="r" b="b"/>
              <a:pathLst>
                <a:path w="339725" h="401954">
                  <a:moveTo>
                    <a:pt x="0" y="401609"/>
                  </a:moveTo>
                  <a:lnTo>
                    <a:pt x="339619" y="401609"/>
                  </a:lnTo>
                  <a:lnTo>
                    <a:pt x="339619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650861" y="5300303"/>
              <a:ext cx="339725" cy="401955"/>
            </a:xfrm>
            <a:custGeom>
              <a:avLst/>
              <a:gdLst/>
              <a:ahLst/>
              <a:cxnLst/>
              <a:rect l="l" t="t" r="r" b="b"/>
              <a:pathLst>
                <a:path w="339725" h="401954">
                  <a:moveTo>
                    <a:pt x="0" y="401609"/>
                  </a:moveTo>
                  <a:lnTo>
                    <a:pt x="339143" y="401609"/>
                  </a:lnTo>
                  <a:lnTo>
                    <a:pt x="339143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650861" y="5262624"/>
              <a:ext cx="390525" cy="401955"/>
            </a:xfrm>
            <a:custGeom>
              <a:avLst/>
              <a:gdLst/>
              <a:ahLst/>
              <a:cxnLst/>
              <a:rect l="l" t="t" r="r" b="b"/>
              <a:pathLst>
                <a:path w="390525" h="401954">
                  <a:moveTo>
                    <a:pt x="0" y="401609"/>
                  </a:moveTo>
                  <a:lnTo>
                    <a:pt x="389972" y="401609"/>
                  </a:lnTo>
                  <a:lnTo>
                    <a:pt x="389972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921789" y="523509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650861" y="5128686"/>
              <a:ext cx="339725" cy="401955"/>
            </a:xfrm>
            <a:custGeom>
              <a:avLst/>
              <a:gdLst/>
              <a:ahLst/>
              <a:cxnLst/>
              <a:rect l="l" t="t" r="r" b="b"/>
              <a:pathLst>
                <a:path w="339725" h="401954">
                  <a:moveTo>
                    <a:pt x="0" y="401609"/>
                  </a:moveTo>
                  <a:lnTo>
                    <a:pt x="339469" y="401609"/>
                  </a:lnTo>
                  <a:lnTo>
                    <a:pt x="339469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825203" y="5072059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839005" y="4989936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479756" y="4985962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350603" y="4829551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281979" y="4806092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222154" y="4779524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650862" y="4757828"/>
              <a:ext cx="369570" cy="401955"/>
            </a:xfrm>
            <a:custGeom>
              <a:avLst/>
              <a:gdLst/>
              <a:ahLst/>
              <a:cxnLst/>
              <a:rect l="l" t="t" r="r" b="b"/>
              <a:pathLst>
                <a:path w="369570" h="401954">
                  <a:moveTo>
                    <a:pt x="0" y="401609"/>
                  </a:moveTo>
                  <a:lnTo>
                    <a:pt x="369148" y="401609"/>
                  </a:lnTo>
                  <a:lnTo>
                    <a:pt x="369148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237237" y="4705680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146004" y="4466317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053803" y="4452838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650861" y="4407960"/>
              <a:ext cx="342265" cy="401955"/>
            </a:xfrm>
            <a:custGeom>
              <a:avLst/>
              <a:gdLst/>
              <a:ahLst/>
              <a:cxnLst/>
              <a:rect l="l" t="t" r="r" b="b"/>
              <a:pathLst>
                <a:path w="342265" h="401954">
                  <a:moveTo>
                    <a:pt x="0" y="401609"/>
                  </a:moveTo>
                  <a:lnTo>
                    <a:pt x="342152" y="401609"/>
                  </a:lnTo>
                  <a:lnTo>
                    <a:pt x="342152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830651" y="4106055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9336749" y="4007783"/>
              <a:ext cx="338455" cy="401955"/>
            </a:xfrm>
            <a:custGeom>
              <a:avLst/>
              <a:gdLst/>
              <a:ahLst/>
              <a:cxnLst/>
              <a:rect l="l" t="t" r="r" b="b"/>
              <a:pathLst>
                <a:path w="338454" h="401954">
                  <a:moveTo>
                    <a:pt x="338266" y="0"/>
                  </a:moveTo>
                  <a:lnTo>
                    <a:pt x="0" y="0"/>
                  </a:lnTo>
                  <a:lnTo>
                    <a:pt x="0" y="401609"/>
                  </a:lnTo>
                  <a:lnTo>
                    <a:pt x="338266" y="401609"/>
                  </a:lnTo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052870" y="365886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788298" y="6419087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788298" y="6419087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604743" y="6402871"/>
            <a:ext cx="241312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0" dirty="0">
                <a:latin typeface="Lucida Sans"/>
                <a:cs typeface="Lucida Sans"/>
              </a:rPr>
              <a:t>0</a:t>
            </a:r>
            <a:endParaRPr sz="2800">
              <a:latin typeface="Lucida Sans"/>
              <a:cs typeface="Lucida Sans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8112966" y="6414008"/>
            <a:ext cx="1264285" cy="54610"/>
            <a:chOff x="8036766" y="6414008"/>
            <a:chExt cx="1264285" cy="54610"/>
          </a:xfrm>
        </p:grpSpPr>
        <p:sp>
          <p:nvSpPr>
            <p:cNvPr id="107" name="object 107"/>
            <p:cNvSpPr/>
            <p:nvPr/>
          </p:nvSpPr>
          <p:spPr>
            <a:xfrm>
              <a:off x="8041846" y="6419088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041846" y="6419088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9295393" y="6419088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9295393" y="6419088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6987989" y="6210628"/>
            <a:ext cx="2800350" cy="552715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806450">
              <a:lnSpc>
                <a:spcPct val="100000"/>
              </a:lnSpc>
              <a:spcBef>
                <a:spcPts val="1610"/>
              </a:spcBef>
              <a:tabLst>
                <a:tab pos="1979295" algn="l"/>
              </a:tabLst>
            </a:pPr>
            <a:r>
              <a:rPr sz="2250" spc="-20" dirty="0">
                <a:latin typeface="Lucida Sans"/>
                <a:cs typeface="Lucida Sans"/>
              </a:rPr>
              <a:t>5000</a:t>
            </a:r>
            <a:r>
              <a:rPr sz="2250" dirty="0">
                <a:latin typeface="Lucida Sans"/>
                <a:cs typeface="Lucida Sans"/>
              </a:rPr>
              <a:t>	</a:t>
            </a:r>
            <a:r>
              <a:rPr sz="2250" spc="-150" dirty="0">
                <a:latin typeface="Lucida Sans"/>
                <a:cs typeface="Lucida Sans"/>
              </a:rPr>
              <a:t>10000</a:t>
            </a:r>
            <a:endParaRPr sz="2250" dirty="0">
              <a:latin typeface="Lucida Sans"/>
              <a:cs typeface="Lucida Sans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6682611" y="982472"/>
            <a:ext cx="3074035" cy="5441950"/>
            <a:chOff x="6606411" y="982472"/>
            <a:chExt cx="3074035" cy="5441950"/>
          </a:xfrm>
        </p:grpSpPr>
        <p:sp>
          <p:nvSpPr>
            <p:cNvPr id="113" name="object 113"/>
            <p:cNvSpPr/>
            <p:nvPr/>
          </p:nvSpPr>
          <p:spPr>
            <a:xfrm>
              <a:off x="6606411" y="6186635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606411" y="6186635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606411" y="5456922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606411" y="5456922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606411" y="472720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606411" y="472720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606411" y="3997496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606411" y="3997496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606411" y="3267784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606411" y="3267784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06411" y="2538071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606411" y="2538071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606411" y="180835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606411" y="180835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606411" y="1078645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606411" y="1078645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650861" y="2538071"/>
              <a:ext cx="3024505" cy="0"/>
            </a:xfrm>
            <a:custGeom>
              <a:avLst/>
              <a:gdLst/>
              <a:ahLst/>
              <a:cxnLst/>
              <a:rect l="l" t="t" r="r" b="b"/>
              <a:pathLst>
                <a:path w="3024504">
                  <a:moveTo>
                    <a:pt x="0" y="0"/>
                  </a:moveTo>
                  <a:lnTo>
                    <a:pt x="3024153" y="0"/>
                  </a:lnTo>
                </a:path>
              </a:pathLst>
            </a:custGeom>
            <a:ln w="63500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650861" y="987552"/>
              <a:ext cx="3024505" cy="5431790"/>
            </a:xfrm>
            <a:custGeom>
              <a:avLst/>
              <a:gdLst/>
              <a:ahLst/>
              <a:cxnLst/>
              <a:rect l="l" t="t" r="r" b="b"/>
              <a:pathLst>
                <a:path w="3024504" h="5431790">
                  <a:moveTo>
                    <a:pt x="0" y="5431536"/>
                  </a:moveTo>
                  <a:lnTo>
                    <a:pt x="0" y="0"/>
                  </a:lnTo>
                </a:path>
                <a:path w="3024504" h="5431790">
                  <a:moveTo>
                    <a:pt x="3024153" y="5431536"/>
                  </a:moveTo>
                  <a:lnTo>
                    <a:pt x="3024153" y="0"/>
                  </a:lnTo>
                </a:path>
                <a:path w="3024504" h="5431790">
                  <a:moveTo>
                    <a:pt x="0" y="5431536"/>
                  </a:moveTo>
                  <a:lnTo>
                    <a:pt x="3024153" y="5431536"/>
                  </a:lnTo>
                </a:path>
                <a:path w="3024504" h="5431790">
                  <a:moveTo>
                    <a:pt x="0" y="0"/>
                  </a:moveTo>
                  <a:lnTo>
                    <a:pt x="3024153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5836275" y="5984978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0.0M</a:t>
            </a:r>
            <a:endParaRPr sz="2800" dirty="0">
              <a:latin typeface="Lucida Sans"/>
              <a:cs typeface="Lucida Sans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836275" y="5255266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0.2M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5836275" y="4525553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0.4M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5836275" y="3795840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0.6M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5836275" y="3066127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0.8M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5836275" y="2336414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1.0M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5836275" y="1606702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1.2M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5836275" y="876989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1.4M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5486400" y="1843300"/>
            <a:ext cx="301044" cy="38717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60"/>
              </a:lnSpc>
            </a:pPr>
            <a:r>
              <a:rPr sz="2800" spc="-195" dirty="0">
                <a:latin typeface="Lucida Sans"/>
                <a:cs typeface="Lucida Sans"/>
              </a:rPr>
              <a:t>Total</a:t>
            </a:r>
            <a:r>
              <a:rPr sz="2800" spc="-45" dirty="0">
                <a:latin typeface="Lucida Sans"/>
                <a:cs typeface="Lucida Sans"/>
              </a:rPr>
              <a:t> </a:t>
            </a:r>
            <a:r>
              <a:rPr sz="2800" spc="-130" dirty="0">
                <a:latin typeface="Lucida Sans"/>
                <a:cs typeface="Lucida Sans"/>
              </a:rPr>
              <a:t>Cost</a:t>
            </a:r>
            <a:r>
              <a:rPr sz="2800" spc="-45" dirty="0">
                <a:latin typeface="Lucida Sans"/>
                <a:cs typeface="Lucida Sans"/>
              </a:rPr>
              <a:t> </a:t>
            </a:r>
            <a:r>
              <a:rPr sz="2800" spc="-114" dirty="0">
                <a:latin typeface="Lucida Sans"/>
                <a:cs typeface="Lucida Sans"/>
              </a:rPr>
              <a:t>in</a:t>
            </a:r>
            <a:r>
              <a:rPr sz="2800" spc="-45" dirty="0">
                <a:latin typeface="Lucida Sans"/>
                <a:cs typeface="Lucida Sans"/>
              </a:rPr>
              <a:t> </a:t>
            </a:r>
            <a:r>
              <a:rPr lang="en-US" sz="2800" spc="-125" dirty="0">
                <a:latin typeface="Lucida Sans"/>
                <a:cs typeface="Lucida Sans"/>
              </a:rPr>
              <a:t>M</a:t>
            </a:r>
            <a:r>
              <a:rPr sz="2800" spc="-125" dirty="0">
                <a:latin typeface="Lucida Sans"/>
                <a:cs typeface="Lucida Sans"/>
              </a:rPr>
              <a:t>illions</a:t>
            </a:r>
            <a:r>
              <a:rPr sz="2800" spc="-45" dirty="0">
                <a:latin typeface="Lucida Sans"/>
                <a:cs typeface="Lucida Sans"/>
              </a:rPr>
              <a:t> </a:t>
            </a:r>
            <a:r>
              <a:rPr sz="2800" spc="-25" dirty="0">
                <a:latin typeface="Lucida Sans"/>
                <a:cs typeface="Lucida Sans"/>
              </a:rPr>
              <a:t>($)</a:t>
            </a:r>
            <a:endParaRPr sz="2800" dirty="0">
              <a:latin typeface="Lucida Sans"/>
              <a:cs typeface="Lucida Sans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8149247" y="7508909"/>
            <a:ext cx="477833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b="1" spc="-254" dirty="0">
                <a:latin typeface="Verdana"/>
                <a:cs typeface="Verdana"/>
              </a:rPr>
              <a:t>(b)</a:t>
            </a:r>
            <a:endParaRPr sz="2250" dirty="0">
              <a:latin typeface="Verdana"/>
              <a:cs typeface="Verdana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11234797" y="6150683"/>
            <a:ext cx="1747520" cy="365760"/>
            <a:chOff x="11006197" y="6103092"/>
            <a:chExt cx="1747520" cy="365760"/>
          </a:xfrm>
        </p:grpSpPr>
        <p:sp>
          <p:nvSpPr>
            <p:cNvPr id="142" name="object 142"/>
            <p:cNvSpPr/>
            <p:nvPr/>
          </p:nvSpPr>
          <p:spPr>
            <a:xfrm>
              <a:off x="11015723" y="6117915"/>
              <a:ext cx="302895" cy="301625"/>
            </a:xfrm>
            <a:custGeom>
              <a:avLst/>
              <a:gdLst/>
              <a:ahLst/>
              <a:cxnLst/>
              <a:rect l="l" t="t" r="r" b="b"/>
              <a:pathLst>
                <a:path w="302895" h="301625">
                  <a:moveTo>
                    <a:pt x="285374" y="301172"/>
                  </a:moveTo>
                  <a:lnTo>
                    <a:pt x="302565" y="283980"/>
                  </a:lnTo>
                  <a:lnTo>
                    <a:pt x="18585" y="0"/>
                  </a:lnTo>
                  <a:lnTo>
                    <a:pt x="0" y="18585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1015723" y="6117748"/>
              <a:ext cx="402590" cy="301625"/>
            </a:xfrm>
            <a:custGeom>
              <a:avLst/>
              <a:gdLst/>
              <a:ahLst/>
              <a:cxnLst/>
              <a:rect l="l" t="t" r="r" b="b"/>
              <a:pathLst>
                <a:path w="402590" h="301625">
                  <a:moveTo>
                    <a:pt x="385051" y="301339"/>
                  </a:moveTo>
                  <a:lnTo>
                    <a:pt x="402410" y="283980"/>
                  </a:lnTo>
                  <a:lnTo>
                    <a:pt x="118429" y="0"/>
                  </a:lnTo>
                  <a:lnTo>
                    <a:pt x="0" y="118429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1015723" y="6116891"/>
              <a:ext cx="321310" cy="302260"/>
            </a:xfrm>
            <a:custGeom>
              <a:avLst/>
              <a:gdLst/>
              <a:ahLst/>
              <a:cxnLst/>
              <a:rect l="l" t="t" r="r" b="b"/>
              <a:pathLst>
                <a:path w="321309" h="302260">
                  <a:moveTo>
                    <a:pt x="302526" y="302196"/>
                  </a:moveTo>
                  <a:lnTo>
                    <a:pt x="320742" y="283980"/>
                  </a:lnTo>
                  <a:lnTo>
                    <a:pt x="36761" y="0"/>
                  </a:lnTo>
                  <a:lnTo>
                    <a:pt x="0" y="36761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1015722" y="6116724"/>
              <a:ext cx="518795" cy="302895"/>
            </a:xfrm>
            <a:custGeom>
              <a:avLst/>
              <a:gdLst/>
              <a:ahLst/>
              <a:cxnLst/>
              <a:rect l="l" t="t" r="r" b="b"/>
              <a:pathLst>
                <a:path w="518795" h="302895">
                  <a:moveTo>
                    <a:pt x="499854" y="302363"/>
                  </a:moveTo>
                  <a:lnTo>
                    <a:pt x="518236" y="283980"/>
                  </a:lnTo>
                  <a:lnTo>
                    <a:pt x="234256" y="0"/>
                  </a:lnTo>
                  <a:lnTo>
                    <a:pt x="0" y="234256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1015723" y="6114621"/>
              <a:ext cx="389890" cy="304800"/>
            </a:xfrm>
            <a:custGeom>
              <a:avLst/>
              <a:gdLst/>
              <a:ahLst/>
              <a:cxnLst/>
              <a:rect l="l" t="t" r="r" b="b"/>
              <a:pathLst>
                <a:path w="389890" h="304800">
                  <a:moveTo>
                    <a:pt x="368929" y="304466"/>
                  </a:moveTo>
                  <a:lnTo>
                    <a:pt x="389415" y="283980"/>
                  </a:lnTo>
                  <a:lnTo>
                    <a:pt x="105435" y="0"/>
                  </a:lnTo>
                  <a:lnTo>
                    <a:pt x="0" y="105435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1403601" y="6114454"/>
              <a:ext cx="568325" cy="304800"/>
            </a:xfrm>
            <a:custGeom>
              <a:avLst/>
              <a:gdLst/>
              <a:ahLst/>
              <a:cxnLst/>
              <a:rect l="l" t="t" r="r" b="b"/>
              <a:pathLst>
                <a:path w="568325" h="304800">
                  <a:moveTo>
                    <a:pt x="547308" y="304633"/>
                  </a:moveTo>
                  <a:lnTo>
                    <a:pt x="567961" y="283980"/>
                  </a:lnTo>
                  <a:lnTo>
                    <a:pt x="283980" y="0"/>
                  </a:lnTo>
                  <a:lnTo>
                    <a:pt x="0" y="283980"/>
                  </a:lnTo>
                  <a:lnTo>
                    <a:pt x="20652" y="304633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1947298" y="6114426"/>
              <a:ext cx="568325" cy="304800"/>
            </a:xfrm>
            <a:custGeom>
              <a:avLst/>
              <a:gdLst/>
              <a:ahLst/>
              <a:cxnLst/>
              <a:rect l="l" t="t" r="r" b="b"/>
              <a:pathLst>
                <a:path w="568325" h="304800">
                  <a:moveTo>
                    <a:pt x="547280" y="304661"/>
                  </a:moveTo>
                  <a:lnTo>
                    <a:pt x="567961" y="283980"/>
                  </a:lnTo>
                  <a:lnTo>
                    <a:pt x="283980" y="0"/>
                  </a:lnTo>
                  <a:lnTo>
                    <a:pt x="0" y="283980"/>
                  </a:lnTo>
                  <a:lnTo>
                    <a:pt x="20680" y="304661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1015723" y="6114356"/>
              <a:ext cx="288290" cy="304800"/>
            </a:xfrm>
            <a:custGeom>
              <a:avLst/>
              <a:gdLst/>
              <a:ahLst/>
              <a:cxnLst/>
              <a:rect l="l" t="t" r="r" b="b"/>
              <a:pathLst>
                <a:path w="288290" h="304800">
                  <a:moveTo>
                    <a:pt x="267238" y="304731"/>
                  </a:moveTo>
                  <a:lnTo>
                    <a:pt x="287989" y="283980"/>
                  </a:lnTo>
                  <a:lnTo>
                    <a:pt x="4008" y="0"/>
                  </a:lnTo>
                  <a:lnTo>
                    <a:pt x="0" y="4008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1015723" y="6114326"/>
              <a:ext cx="287020" cy="304800"/>
            </a:xfrm>
            <a:custGeom>
              <a:avLst/>
              <a:gdLst/>
              <a:ahLst/>
              <a:cxnLst/>
              <a:rect l="l" t="t" r="r" b="b"/>
              <a:pathLst>
                <a:path w="287020" h="304800">
                  <a:moveTo>
                    <a:pt x="265798" y="304761"/>
                  </a:moveTo>
                  <a:lnTo>
                    <a:pt x="286578" y="283980"/>
                  </a:lnTo>
                  <a:lnTo>
                    <a:pt x="2598" y="0"/>
                  </a:lnTo>
                  <a:lnTo>
                    <a:pt x="0" y="2598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1384779" y="6114212"/>
              <a:ext cx="568325" cy="305435"/>
            </a:xfrm>
            <a:custGeom>
              <a:avLst/>
              <a:gdLst/>
              <a:ahLst/>
              <a:cxnLst/>
              <a:rect l="l" t="t" r="r" b="b"/>
              <a:pathLst>
                <a:path w="568325" h="305435">
                  <a:moveTo>
                    <a:pt x="547066" y="304875"/>
                  </a:moveTo>
                  <a:lnTo>
                    <a:pt x="567961" y="283980"/>
                  </a:lnTo>
                  <a:lnTo>
                    <a:pt x="283980" y="0"/>
                  </a:lnTo>
                  <a:lnTo>
                    <a:pt x="0" y="283980"/>
                  </a:lnTo>
                  <a:lnTo>
                    <a:pt x="20894" y="304875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1015722" y="6113487"/>
              <a:ext cx="288925" cy="306070"/>
            </a:xfrm>
            <a:custGeom>
              <a:avLst/>
              <a:gdLst/>
              <a:ahLst/>
              <a:cxnLst/>
              <a:rect l="l" t="t" r="r" b="b"/>
              <a:pathLst>
                <a:path w="288925" h="306070">
                  <a:moveTo>
                    <a:pt x="266694" y="305600"/>
                  </a:moveTo>
                  <a:lnTo>
                    <a:pt x="288314" y="283980"/>
                  </a:lnTo>
                  <a:lnTo>
                    <a:pt x="4333" y="0"/>
                  </a:lnTo>
                  <a:lnTo>
                    <a:pt x="0" y="4333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1015723" y="6113457"/>
              <a:ext cx="287020" cy="306070"/>
            </a:xfrm>
            <a:custGeom>
              <a:avLst/>
              <a:gdLst/>
              <a:ahLst/>
              <a:cxnLst/>
              <a:rect l="l" t="t" r="r" b="b"/>
              <a:pathLst>
                <a:path w="287020" h="306070">
                  <a:moveTo>
                    <a:pt x="265160" y="305630"/>
                  </a:moveTo>
                  <a:lnTo>
                    <a:pt x="286810" y="283980"/>
                  </a:lnTo>
                  <a:lnTo>
                    <a:pt x="2829" y="0"/>
                  </a:lnTo>
                  <a:lnTo>
                    <a:pt x="0" y="2829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1015723" y="6113378"/>
              <a:ext cx="290830" cy="306070"/>
            </a:xfrm>
            <a:custGeom>
              <a:avLst/>
              <a:gdLst/>
              <a:ahLst/>
              <a:cxnLst/>
              <a:rect l="l" t="t" r="r" b="b"/>
              <a:pathLst>
                <a:path w="290829" h="306070">
                  <a:moveTo>
                    <a:pt x="269015" y="305709"/>
                  </a:moveTo>
                  <a:lnTo>
                    <a:pt x="290744" y="283980"/>
                  </a:lnTo>
                  <a:lnTo>
                    <a:pt x="6763" y="0"/>
                  </a:lnTo>
                  <a:lnTo>
                    <a:pt x="0" y="6763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1015723" y="6113348"/>
              <a:ext cx="288925" cy="306070"/>
            </a:xfrm>
            <a:custGeom>
              <a:avLst/>
              <a:gdLst/>
              <a:ahLst/>
              <a:cxnLst/>
              <a:rect l="l" t="t" r="r" b="b"/>
              <a:pathLst>
                <a:path w="288925" h="306070">
                  <a:moveTo>
                    <a:pt x="266726" y="305738"/>
                  </a:moveTo>
                  <a:lnTo>
                    <a:pt x="288485" y="283980"/>
                  </a:lnTo>
                  <a:lnTo>
                    <a:pt x="4504" y="0"/>
                  </a:lnTo>
                  <a:lnTo>
                    <a:pt x="0" y="4504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1384779" y="6113343"/>
              <a:ext cx="568325" cy="306070"/>
            </a:xfrm>
            <a:custGeom>
              <a:avLst/>
              <a:gdLst/>
              <a:ahLst/>
              <a:cxnLst/>
              <a:rect l="l" t="t" r="r" b="b"/>
              <a:pathLst>
                <a:path w="568325" h="306070">
                  <a:moveTo>
                    <a:pt x="546197" y="305744"/>
                  </a:moveTo>
                  <a:lnTo>
                    <a:pt x="567961" y="283980"/>
                  </a:lnTo>
                  <a:lnTo>
                    <a:pt x="283980" y="0"/>
                  </a:lnTo>
                  <a:lnTo>
                    <a:pt x="0" y="283980"/>
                  </a:lnTo>
                  <a:lnTo>
                    <a:pt x="21763" y="305744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1015723" y="6113313"/>
              <a:ext cx="287020" cy="306070"/>
            </a:xfrm>
            <a:custGeom>
              <a:avLst/>
              <a:gdLst/>
              <a:ahLst/>
              <a:cxnLst/>
              <a:rect l="l" t="t" r="r" b="b"/>
              <a:pathLst>
                <a:path w="287020" h="306070">
                  <a:moveTo>
                    <a:pt x="265007" y="305774"/>
                  </a:moveTo>
                  <a:lnTo>
                    <a:pt x="286800" y="283980"/>
                  </a:lnTo>
                  <a:lnTo>
                    <a:pt x="2820" y="0"/>
                  </a:lnTo>
                  <a:lnTo>
                    <a:pt x="0" y="2820"/>
                  </a:lnTo>
                </a:path>
              </a:pathLst>
            </a:custGeom>
            <a:ln w="19049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1015723" y="6113283"/>
              <a:ext cx="286385" cy="306070"/>
            </a:xfrm>
            <a:custGeom>
              <a:avLst/>
              <a:gdLst/>
              <a:ahLst/>
              <a:cxnLst/>
              <a:rect l="l" t="t" r="r" b="b"/>
              <a:pathLst>
                <a:path w="286384" h="306070">
                  <a:moveTo>
                    <a:pt x="263977" y="305804"/>
                  </a:moveTo>
                  <a:lnTo>
                    <a:pt x="285801" y="283980"/>
                  </a:lnTo>
                  <a:lnTo>
                    <a:pt x="1820" y="0"/>
                  </a:lnTo>
                  <a:lnTo>
                    <a:pt x="0" y="1820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2377540" y="6113235"/>
              <a:ext cx="366395" cy="306070"/>
            </a:xfrm>
            <a:custGeom>
              <a:avLst/>
              <a:gdLst/>
              <a:ahLst/>
              <a:cxnLst/>
              <a:rect l="l" t="t" r="r" b="b"/>
              <a:pathLst>
                <a:path w="366395" h="306070">
                  <a:moveTo>
                    <a:pt x="366270" y="82289"/>
                  </a:moveTo>
                  <a:lnTo>
                    <a:pt x="283980" y="0"/>
                  </a:lnTo>
                  <a:lnTo>
                    <a:pt x="0" y="283980"/>
                  </a:lnTo>
                  <a:lnTo>
                    <a:pt x="21872" y="305852"/>
                  </a:lnTo>
                </a:path>
              </a:pathLst>
            </a:custGeom>
            <a:ln w="19049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1212378" y="6113169"/>
              <a:ext cx="568325" cy="306070"/>
            </a:xfrm>
            <a:custGeom>
              <a:avLst/>
              <a:gdLst/>
              <a:ahLst/>
              <a:cxnLst/>
              <a:rect l="l" t="t" r="r" b="b"/>
              <a:pathLst>
                <a:path w="568325" h="306070">
                  <a:moveTo>
                    <a:pt x="546023" y="305917"/>
                  </a:moveTo>
                  <a:lnTo>
                    <a:pt x="567961" y="283980"/>
                  </a:lnTo>
                  <a:lnTo>
                    <a:pt x="283980" y="0"/>
                  </a:lnTo>
                  <a:lnTo>
                    <a:pt x="0" y="283980"/>
                  </a:lnTo>
                  <a:lnTo>
                    <a:pt x="21937" y="305917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1015723" y="6112617"/>
              <a:ext cx="288290" cy="306705"/>
            </a:xfrm>
            <a:custGeom>
              <a:avLst/>
              <a:gdLst/>
              <a:ahLst/>
              <a:cxnLst/>
              <a:rect l="l" t="t" r="r" b="b"/>
              <a:pathLst>
                <a:path w="288290" h="306704">
                  <a:moveTo>
                    <a:pt x="265603" y="306469"/>
                  </a:moveTo>
                  <a:lnTo>
                    <a:pt x="288092" y="283980"/>
                  </a:lnTo>
                  <a:lnTo>
                    <a:pt x="4111" y="0"/>
                  </a:lnTo>
                  <a:lnTo>
                    <a:pt x="0" y="4111"/>
                  </a:lnTo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1015723" y="6419087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1015723" y="6419087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1948372" y="6419087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1948372" y="6419087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" name="object 166"/>
          <p:cNvSpPr txBox="1"/>
          <p:nvPr/>
        </p:nvSpPr>
        <p:spPr>
          <a:xfrm>
            <a:off x="10984568" y="6450462"/>
            <a:ext cx="1650741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3590" algn="l"/>
              </a:tabLst>
            </a:pPr>
            <a:r>
              <a:rPr sz="2800" spc="-50" dirty="0">
                <a:latin typeface="Lucida Sans"/>
                <a:cs typeface="Lucida Sans"/>
              </a:rPr>
              <a:t>0</a:t>
            </a:r>
            <a:r>
              <a:rPr sz="2800" dirty="0">
                <a:latin typeface="Lucida Sans"/>
                <a:cs typeface="Lucida Sans"/>
              </a:rPr>
              <a:t>	</a:t>
            </a:r>
            <a:r>
              <a:rPr sz="2800" spc="-135" dirty="0">
                <a:latin typeface="Lucida Sans"/>
                <a:cs typeface="Lucida Sans"/>
              </a:rPr>
              <a:t>200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12344400" y="7001878"/>
            <a:ext cx="3311524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-95" dirty="0">
                <a:latin typeface="Lucida Sans"/>
                <a:cs typeface="Lucida Sans"/>
              </a:rPr>
              <a:t>Area</a:t>
            </a:r>
            <a:r>
              <a:rPr sz="2800" spc="-100" dirty="0">
                <a:latin typeface="Lucida Sans"/>
                <a:cs typeface="Lucida Sans"/>
              </a:rPr>
              <a:t> </a:t>
            </a:r>
            <a:r>
              <a:rPr sz="2800" spc="-45" dirty="0">
                <a:latin typeface="Lucida Sans"/>
                <a:cs typeface="Lucida Sans"/>
              </a:rPr>
              <a:t>coverage</a:t>
            </a:r>
            <a:r>
              <a:rPr sz="2800" spc="-120" dirty="0">
                <a:latin typeface="Lucida Sans"/>
                <a:cs typeface="Lucida Sans"/>
              </a:rPr>
              <a:t> </a:t>
            </a:r>
            <a:r>
              <a:rPr sz="2800" spc="-25" dirty="0">
                <a:latin typeface="Lucida Sans"/>
                <a:cs typeface="Lucida Sans"/>
              </a:rPr>
              <a:t>(m²)</a:t>
            </a:r>
            <a:endParaRPr sz="2800" dirty="0">
              <a:latin typeface="Lucida Sans"/>
              <a:cs typeface="Lucida Sans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11194793" y="6461599"/>
            <a:ext cx="54610" cy="10160"/>
            <a:chOff x="10966193" y="6414008"/>
            <a:chExt cx="54610" cy="10160"/>
          </a:xfrm>
        </p:grpSpPr>
        <p:sp>
          <p:nvSpPr>
            <p:cNvPr id="169" name="object 169"/>
            <p:cNvSpPr/>
            <p:nvPr/>
          </p:nvSpPr>
          <p:spPr>
            <a:xfrm>
              <a:off x="10971273" y="641908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0971273" y="641908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1" name="object 171"/>
          <p:cNvSpPr txBox="1"/>
          <p:nvPr/>
        </p:nvSpPr>
        <p:spPr>
          <a:xfrm>
            <a:off x="10353537" y="6265022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0.0M</a:t>
            </a:r>
            <a:endParaRPr sz="2800">
              <a:latin typeface="Lucida Sans"/>
              <a:cs typeface="Lucida Sans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11199873" y="971302"/>
            <a:ext cx="1799589" cy="5559425"/>
            <a:chOff x="10971273" y="923711"/>
            <a:chExt cx="1799589" cy="5559425"/>
          </a:xfrm>
        </p:grpSpPr>
        <p:sp>
          <p:nvSpPr>
            <p:cNvPr id="173" name="object 173"/>
            <p:cNvSpPr/>
            <p:nvPr/>
          </p:nvSpPr>
          <p:spPr>
            <a:xfrm>
              <a:off x="10971273" y="5550042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0971273" y="5550042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0971273" y="4680996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10971273" y="4680996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10971273" y="3811950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10971273" y="3811950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0971273" y="2942904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10971273" y="2942904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10971273" y="207385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10971273" y="207385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10971273" y="1204813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0971273" y="1204813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1015723" y="2073859"/>
              <a:ext cx="1728470" cy="0"/>
            </a:xfrm>
            <a:custGeom>
              <a:avLst/>
              <a:gdLst/>
              <a:ahLst/>
              <a:cxnLst/>
              <a:rect l="l" t="t" r="r" b="b"/>
              <a:pathLst>
                <a:path w="1728470">
                  <a:moveTo>
                    <a:pt x="0" y="0"/>
                  </a:moveTo>
                  <a:lnTo>
                    <a:pt x="1728087" y="0"/>
                  </a:lnTo>
                </a:path>
              </a:pathLst>
            </a:custGeom>
            <a:ln w="63500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2726530" y="933236"/>
              <a:ext cx="34925" cy="5540375"/>
            </a:xfrm>
            <a:custGeom>
              <a:avLst/>
              <a:gdLst/>
              <a:ahLst/>
              <a:cxnLst/>
              <a:rect l="l" t="t" r="r" b="b"/>
              <a:pathLst>
                <a:path w="34925" h="5540375">
                  <a:moveTo>
                    <a:pt x="0" y="5540166"/>
                  </a:moveTo>
                  <a:lnTo>
                    <a:pt x="34561" y="5431535"/>
                  </a:lnTo>
                </a:path>
                <a:path w="34925" h="5540375">
                  <a:moveTo>
                    <a:pt x="0" y="108630"/>
                  </a:moveTo>
                  <a:lnTo>
                    <a:pt x="34561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1015723" y="987552"/>
              <a:ext cx="1728470" cy="5431790"/>
            </a:xfrm>
            <a:custGeom>
              <a:avLst/>
              <a:gdLst/>
              <a:ahLst/>
              <a:cxnLst/>
              <a:rect l="l" t="t" r="r" b="b"/>
              <a:pathLst>
                <a:path w="1728470" h="5431790">
                  <a:moveTo>
                    <a:pt x="0" y="5431536"/>
                  </a:moveTo>
                  <a:lnTo>
                    <a:pt x="0" y="0"/>
                  </a:lnTo>
                </a:path>
                <a:path w="1728470" h="5431790">
                  <a:moveTo>
                    <a:pt x="1728087" y="5431536"/>
                  </a:moveTo>
                  <a:lnTo>
                    <a:pt x="1728087" y="0"/>
                  </a:lnTo>
                </a:path>
                <a:path w="1728470" h="5431790">
                  <a:moveTo>
                    <a:pt x="0" y="5431536"/>
                  </a:moveTo>
                  <a:lnTo>
                    <a:pt x="1728087" y="5431536"/>
                  </a:lnTo>
                </a:path>
                <a:path w="1728470" h="5431790">
                  <a:moveTo>
                    <a:pt x="0" y="0"/>
                  </a:moveTo>
                  <a:lnTo>
                    <a:pt x="1728087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8" name="object 188"/>
          <p:cNvSpPr txBox="1"/>
          <p:nvPr/>
        </p:nvSpPr>
        <p:spPr>
          <a:xfrm>
            <a:off x="10353537" y="5395976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0.2M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10353537" y="4526931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0.4M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10353537" y="3657885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0.6M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10353537" y="2788839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0.8M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10353537" y="1919793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1.0M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10353537" y="1050748"/>
            <a:ext cx="8360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latin typeface="Lucida Sans"/>
                <a:cs typeface="Lucida Sans"/>
              </a:rPr>
              <a:t>1.2M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9982200" y="1688257"/>
            <a:ext cx="301044" cy="407433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60"/>
              </a:lnSpc>
            </a:pPr>
            <a:r>
              <a:rPr sz="2800" spc="-195" dirty="0">
                <a:latin typeface="Lucida Sans"/>
                <a:cs typeface="Lucida Sans"/>
              </a:rPr>
              <a:t>Total</a:t>
            </a:r>
            <a:r>
              <a:rPr sz="2800" spc="-45" dirty="0">
                <a:latin typeface="Lucida Sans"/>
                <a:cs typeface="Lucida Sans"/>
              </a:rPr>
              <a:t> </a:t>
            </a:r>
            <a:r>
              <a:rPr sz="2800" spc="-130" dirty="0">
                <a:latin typeface="Lucida Sans"/>
                <a:cs typeface="Lucida Sans"/>
              </a:rPr>
              <a:t>Cost</a:t>
            </a:r>
            <a:r>
              <a:rPr sz="2800" spc="-45" dirty="0">
                <a:latin typeface="Lucida Sans"/>
                <a:cs typeface="Lucida Sans"/>
              </a:rPr>
              <a:t> </a:t>
            </a:r>
            <a:r>
              <a:rPr sz="2800" spc="-114" dirty="0">
                <a:latin typeface="Lucida Sans"/>
                <a:cs typeface="Lucida Sans"/>
              </a:rPr>
              <a:t>in</a:t>
            </a:r>
            <a:r>
              <a:rPr sz="2800" spc="-45" dirty="0">
                <a:latin typeface="Lucida Sans"/>
                <a:cs typeface="Lucida Sans"/>
              </a:rPr>
              <a:t> </a:t>
            </a:r>
            <a:r>
              <a:rPr lang="en-US" sz="2800" spc="-125" dirty="0">
                <a:latin typeface="Lucida Sans"/>
                <a:cs typeface="Lucida Sans"/>
              </a:rPr>
              <a:t>M</a:t>
            </a:r>
            <a:r>
              <a:rPr sz="2800" spc="-125" dirty="0">
                <a:latin typeface="Lucida Sans"/>
                <a:cs typeface="Lucida Sans"/>
              </a:rPr>
              <a:t>illions</a:t>
            </a:r>
            <a:r>
              <a:rPr sz="2800" spc="-45" dirty="0">
                <a:latin typeface="Lucida Sans"/>
                <a:cs typeface="Lucida Sans"/>
              </a:rPr>
              <a:t> </a:t>
            </a:r>
            <a:r>
              <a:rPr sz="2800" spc="-25" dirty="0">
                <a:latin typeface="Lucida Sans"/>
                <a:cs typeface="Lucida Sans"/>
              </a:rPr>
              <a:t>($)</a:t>
            </a:r>
            <a:endParaRPr sz="2800" dirty="0">
              <a:latin typeface="Lucida Sans"/>
              <a:cs typeface="Lucida Sans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13219777" y="1041641"/>
            <a:ext cx="3477895" cy="5474970"/>
            <a:chOff x="12991177" y="994050"/>
            <a:chExt cx="3477895" cy="5474970"/>
          </a:xfrm>
        </p:grpSpPr>
        <p:sp>
          <p:nvSpPr>
            <p:cNvPr id="196" name="object 196"/>
            <p:cNvSpPr/>
            <p:nvPr/>
          </p:nvSpPr>
          <p:spPr>
            <a:xfrm>
              <a:off x="15725684" y="553806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6002743" y="5425266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4369006" y="5401860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4783552" y="5356986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13021897" y="5324198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16248846" y="5197474"/>
              <a:ext cx="210820" cy="401955"/>
            </a:xfrm>
            <a:custGeom>
              <a:avLst/>
              <a:gdLst/>
              <a:ahLst/>
              <a:cxnLst/>
              <a:rect l="l" t="t" r="r" b="b"/>
              <a:pathLst>
                <a:path w="210819" h="401954">
                  <a:moveTo>
                    <a:pt x="210354" y="19099"/>
                  </a:moveTo>
                  <a:lnTo>
                    <a:pt x="200804" y="0"/>
                  </a:lnTo>
                  <a:lnTo>
                    <a:pt x="0" y="401609"/>
                  </a:lnTo>
                  <a:lnTo>
                    <a:pt x="210354" y="401609"/>
                  </a:lnTo>
                </a:path>
              </a:pathLst>
            </a:custGeom>
            <a:ln w="19049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15218551" y="5130034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14369563" y="5032230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14195799" y="5027497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13510162" y="4841221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14754163" y="481328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13423162" y="478164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14180975" y="4755804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13536925" y="4693699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13168143" y="4408631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14648403" y="4392578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13895020" y="4339131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14067142" y="3979579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13044138" y="386254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13003025" y="3447000"/>
              <a:ext cx="391795" cy="401955"/>
            </a:xfrm>
            <a:custGeom>
              <a:avLst/>
              <a:gdLst/>
              <a:ahLst/>
              <a:cxnLst/>
              <a:rect l="l" t="t" r="r" b="b"/>
              <a:pathLst>
                <a:path w="391794" h="401954">
                  <a:moveTo>
                    <a:pt x="0" y="401609"/>
                  </a:moveTo>
                  <a:lnTo>
                    <a:pt x="391267" y="401609"/>
                  </a:lnTo>
                  <a:lnTo>
                    <a:pt x="190462" y="0"/>
                  </a:lnTo>
                  <a:lnTo>
                    <a:pt x="0" y="380924"/>
                  </a:lnTo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13161810" y="1003575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5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5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13000702" y="2431479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5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5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13000702" y="2180325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5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5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13000702" y="2682634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5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5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13493492" y="3015854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13493492" y="2829009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5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5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13003025" y="3447000"/>
              <a:ext cx="391795" cy="401955"/>
            </a:xfrm>
            <a:custGeom>
              <a:avLst/>
              <a:gdLst/>
              <a:ahLst/>
              <a:cxnLst/>
              <a:rect l="l" t="t" r="r" b="b"/>
              <a:pathLst>
                <a:path w="391794" h="401954">
                  <a:moveTo>
                    <a:pt x="0" y="200804"/>
                  </a:moveTo>
                  <a:lnTo>
                    <a:pt x="391267" y="200804"/>
                  </a:lnTo>
                </a:path>
                <a:path w="391794" h="401954">
                  <a:moveTo>
                    <a:pt x="190462" y="401609"/>
                  </a:moveTo>
                  <a:lnTo>
                    <a:pt x="190462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14067142" y="3979579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14648403" y="4392578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13423162" y="478164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13168143" y="4408631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13510162" y="4841221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14180975" y="4755804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15218551" y="5130034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14369563" y="5032230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16248846" y="5197474"/>
              <a:ext cx="210820" cy="401955"/>
            </a:xfrm>
            <a:custGeom>
              <a:avLst/>
              <a:gdLst/>
              <a:ahLst/>
              <a:cxnLst/>
              <a:rect l="l" t="t" r="r" b="b"/>
              <a:pathLst>
                <a:path w="210819" h="401954">
                  <a:moveTo>
                    <a:pt x="0" y="200804"/>
                  </a:moveTo>
                  <a:lnTo>
                    <a:pt x="210354" y="200804"/>
                  </a:lnTo>
                </a:path>
                <a:path w="210819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14783552" y="5356986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14369006" y="5401860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200804"/>
                  </a:moveTo>
                  <a:lnTo>
                    <a:pt x="401609" y="200804"/>
                  </a:lnTo>
                </a:path>
                <a:path w="401955" h="401954">
                  <a:moveTo>
                    <a:pt x="200804" y="401609"/>
                  </a:moveTo>
                  <a:lnTo>
                    <a:pt x="200804" y="0"/>
                  </a:lnTo>
                </a:path>
              </a:pathLst>
            </a:custGeom>
            <a:ln w="19050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15725684" y="553806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16002743" y="5425266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14369006" y="5401860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14783552" y="5356986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13021897" y="5324198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16248846" y="5197474"/>
              <a:ext cx="210820" cy="401955"/>
            </a:xfrm>
            <a:custGeom>
              <a:avLst/>
              <a:gdLst/>
              <a:ahLst/>
              <a:cxnLst/>
              <a:rect l="l" t="t" r="r" b="b"/>
              <a:pathLst>
                <a:path w="210819" h="401954">
                  <a:moveTo>
                    <a:pt x="210354" y="0"/>
                  </a:moveTo>
                  <a:lnTo>
                    <a:pt x="0" y="0"/>
                  </a:lnTo>
                  <a:lnTo>
                    <a:pt x="0" y="401609"/>
                  </a:lnTo>
                  <a:lnTo>
                    <a:pt x="210354" y="401609"/>
                  </a:lnTo>
                </a:path>
              </a:pathLst>
            </a:custGeom>
            <a:ln w="19049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15218551" y="5130034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14369563" y="5032230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14195799" y="5027497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13510162" y="4841221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14754163" y="481328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13423162" y="478164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14180975" y="4755804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47" name="object 247"/>
            <p:cNvSpPr/>
            <p:nvPr/>
          </p:nvSpPr>
          <p:spPr>
            <a:xfrm>
              <a:off x="13536925" y="4693699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13168143" y="4408631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14648403" y="4392578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13895020" y="4339131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14067142" y="3979579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13044138" y="386254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5" h="401954">
                  <a:moveTo>
                    <a:pt x="0" y="401609"/>
                  </a:moveTo>
                  <a:lnTo>
                    <a:pt x="401609" y="401609"/>
                  </a:lnTo>
                  <a:lnTo>
                    <a:pt x="401609" y="0"/>
                  </a:lnTo>
                  <a:lnTo>
                    <a:pt x="0" y="0"/>
                  </a:lnTo>
                  <a:lnTo>
                    <a:pt x="0" y="401609"/>
                  </a:lnTo>
                  <a:close/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13003025" y="3447000"/>
              <a:ext cx="391795" cy="401955"/>
            </a:xfrm>
            <a:custGeom>
              <a:avLst/>
              <a:gdLst/>
              <a:ahLst/>
              <a:cxnLst/>
              <a:rect l="l" t="t" r="r" b="b"/>
              <a:pathLst>
                <a:path w="391794" h="401954">
                  <a:moveTo>
                    <a:pt x="0" y="401609"/>
                  </a:moveTo>
                  <a:lnTo>
                    <a:pt x="391267" y="401609"/>
                  </a:lnTo>
                  <a:lnTo>
                    <a:pt x="391267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13798453" y="6419088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13798453" y="6419088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14726235" y="6419088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14726235" y="6419088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15654016" y="6419088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15654016" y="6419088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0" name="object 260"/>
          <p:cNvSpPr txBox="1"/>
          <p:nvPr/>
        </p:nvSpPr>
        <p:spPr>
          <a:xfrm>
            <a:off x="13215642" y="6450462"/>
            <a:ext cx="3700758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0" dirty="0">
                <a:latin typeface="Lucida Sans"/>
                <a:cs typeface="Lucida Sans"/>
              </a:rPr>
              <a:t>40600</a:t>
            </a:r>
            <a:r>
              <a:rPr sz="2800" spc="-65" dirty="0">
                <a:latin typeface="Lucida Sans"/>
                <a:cs typeface="Lucida Sans"/>
              </a:rPr>
              <a:t> </a:t>
            </a:r>
            <a:r>
              <a:rPr lang="en-US" sz="2800" spc="-65" dirty="0">
                <a:latin typeface="Lucida Sans"/>
                <a:cs typeface="Lucida Sans"/>
              </a:rPr>
              <a:t> </a:t>
            </a:r>
            <a:r>
              <a:rPr sz="2800" spc="-100" dirty="0">
                <a:latin typeface="Lucida Sans"/>
                <a:cs typeface="Lucida Sans"/>
              </a:rPr>
              <a:t>40800</a:t>
            </a:r>
            <a:r>
              <a:rPr sz="2800" spc="-50" dirty="0">
                <a:latin typeface="Lucida Sans"/>
                <a:cs typeface="Lucida Sans"/>
              </a:rPr>
              <a:t> </a:t>
            </a:r>
            <a:r>
              <a:rPr lang="en-US" sz="2800" spc="-50" dirty="0">
                <a:latin typeface="Lucida Sans"/>
                <a:cs typeface="Lucida Sans"/>
              </a:rPr>
              <a:t> </a:t>
            </a:r>
            <a:r>
              <a:rPr sz="2800" spc="-140" dirty="0">
                <a:latin typeface="Lucida Sans"/>
                <a:cs typeface="Lucida Sans"/>
              </a:rPr>
              <a:t>41000</a:t>
            </a:r>
            <a:endParaRPr sz="2800" dirty="0">
              <a:latin typeface="Lucida Sans"/>
              <a:cs typeface="Lucida Sans"/>
            </a:endParaRPr>
          </a:p>
        </p:txBody>
      </p:sp>
      <p:grpSp>
        <p:nvGrpSpPr>
          <p:cNvPr id="261" name="object 261"/>
          <p:cNvGrpSpPr/>
          <p:nvPr/>
        </p:nvGrpSpPr>
        <p:grpSpPr>
          <a:xfrm>
            <a:off x="13187174" y="971302"/>
            <a:ext cx="3505835" cy="5559425"/>
            <a:chOff x="12958574" y="923711"/>
            <a:chExt cx="3505835" cy="5559425"/>
          </a:xfrm>
        </p:grpSpPr>
        <p:sp>
          <p:nvSpPr>
            <p:cNvPr id="262" name="object 262"/>
            <p:cNvSpPr/>
            <p:nvPr/>
          </p:nvSpPr>
          <p:spPr>
            <a:xfrm>
              <a:off x="12958574" y="6419087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12958574" y="6419087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12958574" y="5550042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12958574" y="5550042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12958574" y="4680996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12958574" y="4680996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12958574" y="3811950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12958574" y="3811950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12958574" y="2942904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12958574" y="2942904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12958574" y="207385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12958574" y="207385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12958574" y="1204813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12958574" y="1204813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13003024" y="2073859"/>
              <a:ext cx="3456304" cy="0"/>
            </a:xfrm>
            <a:custGeom>
              <a:avLst/>
              <a:gdLst/>
              <a:ahLst/>
              <a:cxnLst/>
              <a:rect l="l" t="t" r="r" b="b"/>
              <a:pathLst>
                <a:path w="3456305">
                  <a:moveTo>
                    <a:pt x="0" y="0"/>
                  </a:moveTo>
                  <a:lnTo>
                    <a:pt x="3456175" y="0"/>
                  </a:lnTo>
                </a:path>
              </a:pathLst>
            </a:custGeom>
            <a:ln w="63500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7" name="object 277"/>
            <p:cNvSpPr/>
            <p:nvPr/>
          </p:nvSpPr>
          <p:spPr>
            <a:xfrm>
              <a:off x="13190756" y="987552"/>
              <a:ext cx="0" cy="5431790"/>
            </a:xfrm>
            <a:custGeom>
              <a:avLst/>
              <a:gdLst/>
              <a:ahLst/>
              <a:cxnLst/>
              <a:rect l="l" t="t" r="r" b="b"/>
              <a:pathLst>
                <a:path h="5431790">
                  <a:moveTo>
                    <a:pt x="0" y="5431536"/>
                  </a:moveTo>
                  <a:lnTo>
                    <a:pt x="0" y="0"/>
                  </a:lnTo>
                </a:path>
              </a:pathLst>
            </a:custGeom>
            <a:ln w="635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12968462" y="933236"/>
              <a:ext cx="69215" cy="5540375"/>
            </a:xfrm>
            <a:custGeom>
              <a:avLst/>
              <a:gdLst/>
              <a:ahLst/>
              <a:cxnLst/>
              <a:rect l="l" t="t" r="r" b="b"/>
              <a:pathLst>
                <a:path w="69215" h="5540375">
                  <a:moveTo>
                    <a:pt x="0" y="5540166"/>
                  </a:moveTo>
                  <a:lnTo>
                    <a:pt x="69123" y="5431535"/>
                  </a:lnTo>
                </a:path>
                <a:path w="69215" h="5540375">
                  <a:moveTo>
                    <a:pt x="0" y="108630"/>
                  </a:moveTo>
                  <a:lnTo>
                    <a:pt x="69123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13003024" y="987552"/>
              <a:ext cx="3456304" cy="5431790"/>
            </a:xfrm>
            <a:custGeom>
              <a:avLst/>
              <a:gdLst/>
              <a:ahLst/>
              <a:cxnLst/>
              <a:rect l="l" t="t" r="r" b="b"/>
              <a:pathLst>
                <a:path w="3456305" h="5431790">
                  <a:moveTo>
                    <a:pt x="0" y="5431536"/>
                  </a:moveTo>
                  <a:lnTo>
                    <a:pt x="0" y="0"/>
                  </a:lnTo>
                </a:path>
                <a:path w="3456305" h="5431790">
                  <a:moveTo>
                    <a:pt x="3456175" y="5431536"/>
                  </a:moveTo>
                  <a:lnTo>
                    <a:pt x="3456175" y="0"/>
                  </a:lnTo>
                </a:path>
                <a:path w="3456305" h="5431790">
                  <a:moveTo>
                    <a:pt x="0" y="5431536"/>
                  </a:moveTo>
                  <a:lnTo>
                    <a:pt x="3456175" y="5431536"/>
                  </a:lnTo>
                </a:path>
                <a:path w="3456305" h="5431790">
                  <a:moveTo>
                    <a:pt x="0" y="0"/>
                  </a:moveTo>
                  <a:lnTo>
                    <a:pt x="3456175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0" name="object 280"/>
          <p:cNvSpPr txBox="1"/>
          <p:nvPr/>
        </p:nvSpPr>
        <p:spPr>
          <a:xfrm>
            <a:off x="13709371" y="7556500"/>
            <a:ext cx="477833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b="1" spc="-265" dirty="0">
                <a:latin typeface="Verdana"/>
                <a:cs typeface="Verdana"/>
              </a:rPr>
              <a:t>(c)</a:t>
            </a:r>
            <a:endParaRPr sz="2250" dirty="0">
              <a:latin typeface="Verdana"/>
              <a:cs typeface="Verdana"/>
            </a:endParaRPr>
          </a:p>
        </p:txBody>
      </p:sp>
      <p:grpSp>
        <p:nvGrpSpPr>
          <p:cNvPr id="281" name="object 281"/>
          <p:cNvGrpSpPr/>
          <p:nvPr/>
        </p:nvGrpSpPr>
        <p:grpSpPr>
          <a:xfrm>
            <a:off x="3324868" y="25048"/>
            <a:ext cx="485132" cy="895320"/>
            <a:chOff x="3172468" y="25048"/>
            <a:chExt cx="485132" cy="895320"/>
          </a:xfrm>
        </p:grpSpPr>
        <p:sp>
          <p:nvSpPr>
            <p:cNvPr id="282" name="object 282"/>
            <p:cNvSpPr/>
            <p:nvPr/>
          </p:nvSpPr>
          <p:spPr>
            <a:xfrm>
              <a:off x="3242760" y="25048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5">
                  <a:moveTo>
                    <a:pt x="200804" y="0"/>
                  </a:moveTo>
                  <a:lnTo>
                    <a:pt x="0" y="401609"/>
                  </a:lnTo>
                  <a:lnTo>
                    <a:pt x="401609" y="401609"/>
                  </a:lnTo>
                  <a:lnTo>
                    <a:pt x="200804" y="0"/>
                  </a:lnTo>
                  <a:close/>
                </a:path>
              </a:pathLst>
            </a:custGeom>
            <a:ln w="19050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3172468" y="477298"/>
              <a:ext cx="485132" cy="443070"/>
            </a:xfrm>
            <a:custGeom>
              <a:avLst/>
              <a:gdLst/>
              <a:ahLst/>
              <a:cxnLst/>
              <a:rect l="l" t="t" r="r" b="b"/>
              <a:pathLst>
                <a:path w="568325" h="568325">
                  <a:moveTo>
                    <a:pt x="283980" y="567961"/>
                  </a:moveTo>
                  <a:lnTo>
                    <a:pt x="567961" y="283980"/>
                  </a:lnTo>
                  <a:lnTo>
                    <a:pt x="283980" y="0"/>
                  </a:lnTo>
                  <a:lnTo>
                    <a:pt x="0" y="283980"/>
                  </a:lnTo>
                  <a:lnTo>
                    <a:pt x="283980" y="567961"/>
                  </a:lnTo>
                  <a:close/>
                </a:path>
              </a:pathLst>
            </a:custGeom>
            <a:ln w="19050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4" name="object 28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900"/>
              </a:lnSpc>
              <a:spcBef>
                <a:spcPts val="95"/>
              </a:spcBef>
            </a:pPr>
            <a:r>
              <a:rPr spc="-55" dirty="0"/>
              <a:t>cost+area </a:t>
            </a:r>
            <a:r>
              <a:rPr spc="-165" dirty="0"/>
              <a:t>payload+cost</a:t>
            </a:r>
          </a:p>
        </p:txBody>
      </p:sp>
      <p:sp>
        <p:nvSpPr>
          <p:cNvPr id="285" name="object 285"/>
          <p:cNvSpPr/>
          <p:nvPr/>
        </p:nvSpPr>
        <p:spPr>
          <a:xfrm>
            <a:off x="6714504" y="0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5">
                <a:moveTo>
                  <a:pt x="0" y="200804"/>
                </a:moveTo>
                <a:lnTo>
                  <a:pt x="401609" y="200804"/>
                </a:lnTo>
              </a:path>
              <a:path w="401954" h="401955">
                <a:moveTo>
                  <a:pt x="200804" y="401609"/>
                </a:moveTo>
                <a:lnTo>
                  <a:pt x="200804" y="0"/>
                </a:lnTo>
              </a:path>
            </a:pathLst>
          </a:custGeom>
          <a:ln w="19050">
            <a:solidFill>
              <a:srgbClr val="2BA0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 txBox="1"/>
          <p:nvPr/>
        </p:nvSpPr>
        <p:spPr>
          <a:xfrm>
            <a:off x="7405528" y="-63047"/>
            <a:ext cx="3104515" cy="850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95"/>
              </a:spcBef>
            </a:pPr>
            <a:r>
              <a:rPr sz="2450" b="1" spc="-90" dirty="0">
                <a:latin typeface="Verdana"/>
                <a:cs typeface="Verdana"/>
              </a:rPr>
              <a:t>area+payload </a:t>
            </a:r>
            <a:r>
              <a:rPr sz="2450" b="1" spc="-170" dirty="0">
                <a:latin typeface="Verdana"/>
                <a:cs typeface="Verdana"/>
              </a:rPr>
              <a:t>Proposed</a:t>
            </a:r>
            <a:r>
              <a:rPr sz="2450" b="1" spc="-5" dirty="0">
                <a:latin typeface="Verdana"/>
                <a:cs typeface="Verdana"/>
              </a:rPr>
              <a:t> </a:t>
            </a:r>
            <a:r>
              <a:rPr sz="2450" b="1" spc="-160" dirty="0">
                <a:latin typeface="Verdana"/>
                <a:cs typeface="Verdana"/>
              </a:rPr>
              <a:t>Approach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87" name="object 287"/>
          <p:cNvSpPr/>
          <p:nvPr/>
        </p:nvSpPr>
        <p:spPr>
          <a:xfrm>
            <a:off x="6714504" y="437402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5">
                <a:moveTo>
                  <a:pt x="0" y="401609"/>
                </a:moveTo>
                <a:lnTo>
                  <a:pt x="401609" y="401609"/>
                </a:lnTo>
                <a:lnTo>
                  <a:pt x="401609" y="0"/>
                </a:lnTo>
                <a:lnTo>
                  <a:pt x="0" y="0"/>
                </a:lnTo>
                <a:lnTo>
                  <a:pt x="0" y="401609"/>
                </a:lnTo>
                <a:close/>
              </a:path>
            </a:pathLst>
          </a:custGeom>
          <a:ln w="19050">
            <a:solidFill>
              <a:srgbClr val="D627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11055389" y="201406"/>
            <a:ext cx="558800" cy="0"/>
          </a:xfrm>
          <a:custGeom>
            <a:avLst/>
            <a:gdLst/>
            <a:ahLst/>
            <a:cxnLst/>
            <a:rect l="l" t="t" r="r" b="b"/>
            <a:pathLst>
              <a:path w="558800">
                <a:moveTo>
                  <a:pt x="0" y="0"/>
                </a:moveTo>
                <a:lnTo>
                  <a:pt x="279400" y="0"/>
                </a:lnTo>
                <a:lnTo>
                  <a:pt x="558800" y="0"/>
                </a:lnTo>
              </a:path>
            </a:pathLst>
          </a:custGeom>
          <a:ln w="63500">
            <a:solidFill>
              <a:srgbClr val="0000F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 txBox="1"/>
          <p:nvPr/>
        </p:nvSpPr>
        <p:spPr>
          <a:xfrm>
            <a:off x="11825009" y="-63047"/>
            <a:ext cx="3311525" cy="850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95"/>
              </a:spcBef>
            </a:pPr>
            <a:r>
              <a:rPr sz="2450" b="1" spc="-150" dirty="0">
                <a:latin typeface="Verdana"/>
                <a:cs typeface="Verdana"/>
              </a:rPr>
              <a:t>Budget</a:t>
            </a:r>
            <a:r>
              <a:rPr sz="2450" b="1" spc="-55" dirty="0">
                <a:latin typeface="Verdana"/>
                <a:cs typeface="Verdana"/>
              </a:rPr>
              <a:t> </a:t>
            </a:r>
            <a:r>
              <a:rPr sz="2450" b="1" spc="-40" dirty="0">
                <a:latin typeface="Verdana"/>
                <a:cs typeface="Verdana"/>
              </a:rPr>
              <a:t>Constraint </a:t>
            </a:r>
            <a:r>
              <a:rPr sz="2450" b="1" spc="-220" dirty="0">
                <a:latin typeface="Verdana"/>
                <a:cs typeface="Verdana"/>
              </a:rPr>
              <a:t>Farm</a:t>
            </a:r>
            <a:r>
              <a:rPr sz="2450" b="1" spc="-50" dirty="0">
                <a:latin typeface="Verdana"/>
                <a:cs typeface="Verdana"/>
              </a:rPr>
              <a:t> </a:t>
            </a:r>
            <a:r>
              <a:rPr sz="2450" b="1" spc="-150" dirty="0">
                <a:latin typeface="Verdana"/>
                <a:cs typeface="Verdana"/>
              </a:rPr>
              <a:t>Size</a:t>
            </a:r>
            <a:r>
              <a:rPr sz="2450" b="1" spc="-40" dirty="0">
                <a:latin typeface="Verdana"/>
                <a:cs typeface="Verdana"/>
              </a:rPr>
              <a:t> </a:t>
            </a:r>
            <a:r>
              <a:rPr sz="2450" b="1" spc="-135" dirty="0">
                <a:latin typeface="Verdana"/>
                <a:cs typeface="Verdana"/>
              </a:rPr>
              <a:t>Constraint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90" name="object 290"/>
          <p:cNvSpPr/>
          <p:nvPr/>
        </p:nvSpPr>
        <p:spPr>
          <a:xfrm>
            <a:off x="11055389" y="613759"/>
            <a:ext cx="558800" cy="0"/>
          </a:xfrm>
          <a:custGeom>
            <a:avLst/>
            <a:gdLst/>
            <a:ahLst/>
            <a:cxnLst/>
            <a:rect l="l" t="t" r="r" b="b"/>
            <a:pathLst>
              <a:path w="558800">
                <a:moveTo>
                  <a:pt x="0" y="0"/>
                </a:moveTo>
                <a:lnTo>
                  <a:pt x="279400" y="0"/>
                </a:lnTo>
                <a:lnTo>
                  <a:pt x="558800" y="0"/>
                </a:lnTo>
              </a:path>
            </a:pathLst>
          </a:custGeom>
          <a:ln w="635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D75764D6-99E0-F7C6-022F-DF09FB658AFE}"/>
              </a:ext>
            </a:extLst>
          </p:cNvPr>
          <p:cNvSpPr txBox="1"/>
          <p:nvPr/>
        </p:nvSpPr>
        <p:spPr>
          <a:xfrm>
            <a:off x="2177386" y="6956934"/>
            <a:ext cx="31220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985">
              <a:lnSpc>
                <a:spcPct val="100000"/>
              </a:lnSpc>
              <a:spcBef>
                <a:spcPts val="1690"/>
              </a:spcBef>
            </a:pPr>
            <a:r>
              <a:rPr lang="en-US" sz="2800" spc="-100" dirty="0">
                <a:latin typeface="Lucida Sans"/>
                <a:cs typeface="Lucida Sans"/>
              </a:rPr>
              <a:t>Unit</a:t>
            </a:r>
            <a:r>
              <a:rPr lang="en-US" sz="2800" spc="-70" dirty="0">
                <a:latin typeface="Lucida Sans"/>
                <a:cs typeface="Lucida Sans"/>
              </a:rPr>
              <a:t> </a:t>
            </a:r>
            <a:r>
              <a:rPr lang="en-US" sz="2800" spc="-75" dirty="0">
                <a:latin typeface="Lucida Sans"/>
                <a:cs typeface="Lucida Sans"/>
              </a:rPr>
              <a:t>Payload</a:t>
            </a:r>
            <a:r>
              <a:rPr lang="en-US" sz="2800" spc="-70" dirty="0">
                <a:latin typeface="Lucida Sans"/>
                <a:cs typeface="Lucida Sans"/>
              </a:rPr>
              <a:t> </a:t>
            </a:r>
            <a:r>
              <a:rPr lang="en-US" sz="2800" spc="-25" dirty="0">
                <a:latin typeface="Lucida Sans"/>
                <a:cs typeface="Lucida Sans"/>
              </a:rPr>
              <a:t>(kg)</a:t>
            </a:r>
            <a:endParaRPr lang="en-US" sz="2800" dirty="0">
              <a:latin typeface="Lucida Sans"/>
              <a:cs typeface="Lucida Sans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1EC3232F-C859-4972-F33F-9E9C39ABA30E}"/>
              </a:ext>
            </a:extLst>
          </p:cNvPr>
          <p:cNvSpPr txBox="1"/>
          <p:nvPr/>
        </p:nvSpPr>
        <p:spPr>
          <a:xfrm>
            <a:off x="6803767" y="6956934"/>
            <a:ext cx="3362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690"/>
              </a:spcBef>
            </a:pPr>
            <a:r>
              <a:rPr lang="en-US" sz="2800" spc="-195" dirty="0">
                <a:latin typeface="Lucida Sans"/>
                <a:cs typeface="Lucida Sans"/>
              </a:rPr>
              <a:t>Total</a:t>
            </a:r>
            <a:r>
              <a:rPr lang="en-US" sz="2800" spc="-55" dirty="0">
                <a:latin typeface="Lucida Sans"/>
                <a:cs typeface="Lucida Sans"/>
              </a:rPr>
              <a:t> </a:t>
            </a:r>
            <a:r>
              <a:rPr lang="en-US" sz="2800" spc="-75" dirty="0">
                <a:latin typeface="Lucida Sans"/>
                <a:cs typeface="Lucida Sans"/>
              </a:rPr>
              <a:t>Payload</a:t>
            </a:r>
            <a:r>
              <a:rPr lang="en-US" sz="2800" spc="-55" dirty="0">
                <a:latin typeface="Lucida Sans"/>
                <a:cs typeface="Lucida Sans"/>
              </a:rPr>
              <a:t> </a:t>
            </a:r>
            <a:r>
              <a:rPr lang="en-US" sz="2800" spc="-20" dirty="0">
                <a:latin typeface="Lucida Sans"/>
                <a:cs typeface="Lucida Sans"/>
              </a:rPr>
              <a:t>(kg)</a:t>
            </a:r>
            <a:endParaRPr lang="en-US" sz="2800" dirty="0">
              <a:latin typeface="Lucida Sans"/>
              <a:cs typeface="Lucida Sans"/>
            </a:endParaRPr>
          </a:p>
        </p:txBody>
      </p:sp>
      <p:sp>
        <p:nvSpPr>
          <p:cNvPr id="295" name="object 301">
            <a:extLst>
              <a:ext uri="{FF2B5EF4-FFF2-40B4-BE49-F238E27FC236}">
                <a16:creationId xmlns:a16="http://schemas.microsoft.com/office/drawing/2014/main" id="{C024E4D9-4230-F044-A517-D3596A0C5350}"/>
              </a:ext>
            </a:extLst>
          </p:cNvPr>
          <p:cNvSpPr/>
          <p:nvPr/>
        </p:nvSpPr>
        <p:spPr>
          <a:xfrm>
            <a:off x="2376873" y="4884965"/>
            <a:ext cx="377166" cy="389682"/>
          </a:xfrm>
          <a:custGeom>
            <a:avLst/>
            <a:gdLst/>
            <a:ahLst/>
            <a:cxnLst/>
            <a:rect l="l" t="t" r="r" b="b"/>
            <a:pathLst>
              <a:path w="262255" h="259714">
                <a:moveTo>
                  <a:pt x="0" y="259556"/>
                </a:moveTo>
                <a:lnTo>
                  <a:pt x="261937" y="259556"/>
                </a:lnTo>
                <a:lnTo>
                  <a:pt x="261937" y="0"/>
                </a:lnTo>
                <a:lnTo>
                  <a:pt x="0" y="0"/>
                </a:lnTo>
                <a:lnTo>
                  <a:pt x="0" y="259556"/>
                </a:lnTo>
                <a:close/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44">
            <a:extLst>
              <a:ext uri="{FF2B5EF4-FFF2-40B4-BE49-F238E27FC236}">
                <a16:creationId xmlns:a16="http://schemas.microsoft.com/office/drawing/2014/main" id="{DE109B1C-5C7B-AD2E-F959-3DE0385D497E}"/>
              </a:ext>
            </a:extLst>
          </p:cNvPr>
          <p:cNvSpPr txBox="1"/>
          <p:nvPr/>
        </p:nvSpPr>
        <p:spPr>
          <a:xfrm>
            <a:off x="159413" y="5788008"/>
            <a:ext cx="1992170" cy="904734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2800" b="1" spc="-10" dirty="0">
                <a:latin typeface="Verdana"/>
                <a:cs typeface="Verdana"/>
              </a:rPr>
              <a:t>Prototype Rover</a:t>
            </a:r>
            <a:endParaRPr lang="en-US" sz="2800" dirty="0">
              <a:latin typeface="Verdana"/>
              <a:cs typeface="Verdana"/>
            </a:endParaRPr>
          </a:p>
        </p:txBody>
      </p:sp>
      <p:sp>
        <p:nvSpPr>
          <p:cNvPr id="297" name="object 301">
            <a:extLst>
              <a:ext uri="{FF2B5EF4-FFF2-40B4-BE49-F238E27FC236}">
                <a16:creationId xmlns:a16="http://schemas.microsoft.com/office/drawing/2014/main" id="{3E33AD21-6FB1-7FB7-951A-8EA6B050514B}"/>
              </a:ext>
            </a:extLst>
          </p:cNvPr>
          <p:cNvSpPr/>
          <p:nvPr/>
        </p:nvSpPr>
        <p:spPr>
          <a:xfrm>
            <a:off x="2371094" y="5960578"/>
            <a:ext cx="377166" cy="389682"/>
          </a:xfrm>
          <a:custGeom>
            <a:avLst/>
            <a:gdLst/>
            <a:ahLst/>
            <a:cxnLst/>
            <a:rect l="l" t="t" r="r" b="b"/>
            <a:pathLst>
              <a:path w="262255" h="259714">
                <a:moveTo>
                  <a:pt x="0" y="259556"/>
                </a:moveTo>
                <a:lnTo>
                  <a:pt x="261937" y="259556"/>
                </a:lnTo>
                <a:lnTo>
                  <a:pt x="261937" y="0"/>
                </a:lnTo>
                <a:lnTo>
                  <a:pt x="0" y="0"/>
                </a:lnTo>
                <a:lnTo>
                  <a:pt x="0" y="259556"/>
                </a:lnTo>
                <a:close/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44">
            <a:extLst>
              <a:ext uri="{FF2B5EF4-FFF2-40B4-BE49-F238E27FC236}">
                <a16:creationId xmlns:a16="http://schemas.microsoft.com/office/drawing/2014/main" id="{2EA3BAC2-7B51-4067-E1BA-64C4A1916D6E}"/>
              </a:ext>
            </a:extLst>
          </p:cNvPr>
          <p:cNvSpPr txBox="1"/>
          <p:nvPr/>
        </p:nvSpPr>
        <p:spPr>
          <a:xfrm>
            <a:off x="265736" y="7071753"/>
            <a:ext cx="1992170" cy="904734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2800" b="1" spc="-10" dirty="0">
                <a:latin typeface="Verdana"/>
                <a:cs typeface="Verdana"/>
              </a:rPr>
              <a:t>Prototype Drone</a:t>
            </a:r>
            <a:endParaRPr lang="en-US" sz="2800" dirty="0">
              <a:latin typeface="Verdana"/>
              <a:cs typeface="Verdana"/>
            </a:endParaRPr>
          </a:p>
        </p:txBody>
      </p: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3719DE2D-E45D-56AC-5B12-2723B020B621}"/>
              </a:ext>
            </a:extLst>
          </p:cNvPr>
          <p:cNvCxnSpPr>
            <a:cxnSpLocks/>
          </p:cNvCxnSpPr>
          <p:nvPr/>
        </p:nvCxnSpPr>
        <p:spPr>
          <a:xfrm flipH="1">
            <a:off x="1245688" y="6332943"/>
            <a:ext cx="1125406" cy="81870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bject 16"/>
          <p:cNvSpPr txBox="1"/>
          <p:nvPr/>
        </p:nvSpPr>
        <p:spPr>
          <a:xfrm>
            <a:off x="1447800" y="5510862"/>
            <a:ext cx="76811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latin typeface="Lucida Sans"/>
                <a:cs typeface="Lucida Sans"/>
              </a:rPr>
              <a:t>3.0K</a:t>
            </a:r>
            <a:endParaRPr sz="2800" dirty="0">
              <a:latin typeface="Lucida Sans"/>
              <a:cs typeface="Lucida Sans"/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F1C40172-DC9C-B939-50A9-E8BCF6854267}"/>
              </a:ext>
            </a:extLst>
          </p:cNvPr>
          <p:cNvSpPr/>
          <p:nvPr/>
        </p:nvSpPr>
        <p:spPr>
          <a:xfrm>
            <a:off x="13246301" y="2124020"/>
            <a:ext cx="3447572" cy="4326442"/>
          </a:xfrm>
          <a:prstGeom prst="rect">
            <a:avLst/>
          </a:prstGeom>
          <a:solidFill>
            <a:srgbClr val="FFFF00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DDF34449-E381-2178-E7D9-4FABA8723540}"/>
              </a:ext>
            </a:extLst>
          </p:cNvPr>
          <p:cNvSpPr/>
          <p:nvPr/>
        </p:nvSpPr>
        <p:spPr>
          <a:xfrm>
            <a:off x="13246301" y="1033074"/>
            <a:ext cx="3447572" cy="1039586"/>
          </a:xfrm>
          <a:prstGeom prst="rect">
            <a:avLst/>
          </a:prstGeom>
          <a:solidFill>
            <a:srgbClr val="FF0000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3C2799D4-291E-967F-2C49-B5A0BB7715C7}"/>
              </a:ext>
            </a:extLst>
          </p:cNvPr>
          <p:cNvSpPr/>
          <p:nvPr/>
        </p:nvSpPr>
        <p:spPr>
          <a:xfrm>
            <a:off x="11264915" y="2132992"/>
            <a:ext cx="1702158" cy="4326442"/>
          </a:xfrm>
          <a:prstGeom prst="rect">
            <a:avLst/>
          </a:prstGeom>
          <a:solidFill>
            <a:srgbClr val="00B050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F7B2AD78-7841-31F1-52C3-5523B970A228}"/>
              </a:ext>
            </a:extLst>
          </p:cNvPr>
          <p:cNvCxnSpPr>
            <a:cxnSpLocks/>
          </p:cNvCxnSpPr>
          <p:nvPr/>
        </p:nvCxnSpPr>
        <p:spPr>
          <a:xfrm flipH="1">
            <a:off x="892984" y="5047481"/>
            <a:ext cx="1501574" cy="800437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96</Words>
  <Application>Microsoft Office PowerPoint</Application>
  <PresentationFormat>Custom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Lucida Sans</vt:lpstr>
      <vt:lpstr>Verdana</vt:lpstr>
      <vt:lpstr>Office Theme</vt:lpstr>
      <vt:lpstr>cost+area payload+cost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Pawan Kumar</cp:lastModifiedBy>
  <cp:revision>1</cp:revision>
  <dcterms:created xsi:type="dcterms:W3CDTF">2025-12-19T21:13:20Z</dcterms:created>
  <dcterms:modified xsi:type="dcterms:W3CDTF">2025-12-19T21:29:26Z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Creator">
    <vt:lpwstr>Matplotlib v3.10.3, https://matplotlib.org</vt:lpwstr>
  </property>
  <property fmtid="{D5CDD505-2E9C-101B-9397-08002B2CF9AE}" pid="4" name="Producer">
    <vt:lpwstr>Matplotlib pdf backend v3.10.3</vt:lpwstr>
  </property>
  <property fmtid="{D5CDD505-2E9C-101B-9397-08002B2CF9AE}" pid="5" name="LastSaved">
    <vt:filetime>2025-12-19T00:00:00Z</vt:filetime>
  </property>
</Properties>
</file>